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C"/>
        </a:solidFill>
      </p:bgPr>
    </p:bg>
    <p:spTree>
      <p:nvGrpSpPr>
        <p:cNvPr id="1" name=""/>
        <p:cNvGrpSpPr/>
        <p:nvPr/>
      </p:nvGrpSpPr>
      <p:grpSpPr>
        <a:xfrm>
          <a:off x="0" y="0"/>
          <a:ext cx="0" cy="0"/>
          <a:chOff x="0" y="0"/>
          <a:chExt cx="0" cy="0"/>
        </a:xfrm>
      </p:grpSpPr>
      <p:sp>
        <p:nvSpPr>
          <p:cNvPr id="2" name="Shape 0"/>
          <p:cNvSpPr/>
          <p:nvPr/>
        </p:nvSpPr>
        <p:spPr>
          <a:xfrm>
            <a:off x="-1463040" y="-1645920"/>
            <a:ext cx="4754880" cy="4754880"/>
          </a:xfrm>
          <a:prstGeom prst="ellipse">
            <a:avLst/>
          </a:prstGeom>
          <a:solidFill>
            <a:srgbClr val="8B5CF6">
              <a:alpha val="12000"/>
            </a:srgbClr>
          </a:solidFill>
          <a:ln/>
        </p:spPr>
      </p:sp>
      <p:sp>
        <p:nvSpPr>
          <p:cNvPr id="3" name="Shape 1"/>
          <p:cNvSpPr/>
          <p:nvPr/>
        </p:nvSpPr>
        <p:spPr>
          <a:xfrm>
            <a:off x="9692640" y="4206240"/>
            <a:ext cx="4937760" cy="4937760"/>
          </a:xfrm>
          <a:prstGeom prst="ellipse">
            <a:avLst/>
          </a:prstGeom>
          <a:solidFill>
            <a:srgbClr val="22D3EE">
              <a:alpha val="10000"/>
            </a:srgbClr>
          </a:solidFill>
          <a:ln/>
        </p:spPr>
      </p:sp>
      <p:sp>
        <p:nvSpPr>
          <p:cNvPr id="4" name="Shape 2"/>
          <p:cNvSpPr/>
          <p:nvPr/>
        </p:nvSpPr>
        <p:spPr>
          <a:xfrm>
            <a:off x="5410505" y="777240"/>
            <a:ext cx="1371600" cy="1371600"/>
          </a:xfrm>
          <a:prstGeom prst="roundRect">
            <a:avLst>
              <a:gd name="adj" fmla="val 21333"/>
            </a:avLst>
          </a:prstGeom>
          <a:solidFill>
            <a:srgbClr val="8B5CF6"/>
          </a:solidFill>
          <a:ln/>
          <a:effectLst>
            <a:outerShdw sx="100000" sy="100000" kx="0" ky="0" algn="bl" rotWithShape="0" blurRad="177800" dist="50800" dir="5400000">
              <a:srgbClr val="8B5CF6">
                <a:alpha val="35000"/>
              </a:srgbClr>
            </a:outerShdw>
          </a:effectLst>
        </p:spPr>
      </p:sp>
      <p:pic>
        <p:nvPicPr>
          <p:cNvPr id="5" name="Image 0" descr="/tmp/aizen_pptx/assets/icons/zap_FFFFFF.png">    </p:cNvPr>
          <p:cNvPicPr>
            <a:picLocks noChangeAspect="1"/>
          </p:cNvPicPr>
          <p:nvPr/>
        </p:nvPicPr>
        <p:blipFill>
          <a:blip r:embed="rId1"/>
          <a:stretch>
            <a:fillRect/>
          </a:stretch>
        </p:blipFill>
        <p:spPr>
          <a:xfrm>
            <a:off x="5776265" y="1143000"/>
            <a:ext cx="640080" cy="640080"/>
          </a:xfrm>
          <a:prstGeom prst="rect">
            <a:avLst/>
          </a:prstGeom>
        </p:spPr>
      </p:pic>
      <p:sp>
        <p:nvSpPr>
          <p:cNvPr id="6" name="Text 3"/>
          <p:cNvSpPr txBox="1"/>
          <p:nvPr/>
        </p:nvSpPr>
        <p:spPr>
          <a:xfrm>
            <a:off x="0" y="2331720"/>
            <a:ext cx="12191695" cy="868680"/>
          </a:xfrm>
          <a:prstGeom prst="rect">
            <a:avLst/>
          </a:prstGeom>
          <a:noFill/>
          <a:ln/>
        </p:spPr>
        <p:txBody>
          <a:bodyPr wrap="square" lIns="0" tIns="0" rIns="0" bIns="0" rtlCol="0" anchor="ctr"/>
          <a:lstStyle/>
          <a:p>
            <a:pPr algn="ctr" indent="0" marL="0">
              <a:buNone/>
            </a:pPr>
            <a:r>
              <a:rPr lang="en-US" sz="5400" b="1" spc="600" kern="0" dirty="0">
                <a:solidFill>
                  <a:srgbClr val="FFFFFF"/>
                </a:solidFill>
                <a:latin typeface="Calibri" pitchFamily="34" charset="0"/>
                <a:ea typeface="Calibri" pitchFamily="34" charset="-122"/>
                <a:cs typeface="Calibri" pitchFamily="34" charset="-120"/>
              </a:rPr>
              <a:t>AIZEN</a:t>
            </a:r>
            <a:endParaRPr lang="en-US" sz="5400" dirty="0"/>
          </a:p>
        </p:txBody>
      </p:sp>
      <p:sp>
        <p:nvSpPr>
          <p:cNvPr id="7" name="Text 4"/>
          <p:cNvSpPr txBox="1"/>
          <p:nvPr/>
        </p:nvSpPr>
        <p:spPr>
          <a:xfrm>
            <a:off x="0" y="3200400"/>
            <a:ext cx="12191695" cy="411480"/>
          </a:xfrm>
          <a:prstGeom prst="rect">
            <a:avLst/>
          </a:prstGeom>
          <a:noFill/>
          <a:ln/>
        </p:spPr>
        <p:txBody>
          <a:bodyPr wrap="square" lIns="0" tIns="0" rIns="0" bIns="0" rtlCol="0" anchor="ctr"/>
          <a:lstStyle/>
          <a:p>
            <a:pPr algn="ctr" indent="0" marL="0">
              <a:buNone/>
            </a:pPr>
            <a:r>
              <a:rPr lang="en-US" sz="1900" b="1" dirty="0">
                <a:solidFill>
                  <a:srgbClr val="22D3EE"/>
                </a:solidFill>
                <a:latin typeface="Calibri" pitchFamily="34" charset="0"/>
                <a:ea typeface="Calibri" pitchFamily="34" charset="-122"/>
                <a:cs typeface="Calibri" pitchFamily="34" charset="-120"/>
              </a:rPr>
              <a:t>Agentic AI: Intelligent Task Execution System</a:t>
            </a:r>
            <a:endParaRPr lang="en-US" sz="1900" dirty="0"/>
          </a:p>
        </p:txBody>
      </p:sp>
      <p:sp>
        <p:nvSpPr>
          <p:cNvPr id="8" name="Text 5"/>
          <p:cNvSpPr txBox="1"/>
          <p:nvPr/>
        </p:nvSpPr>
        <p:spPr>
          <a:xfrm>
            <a:off x="1371600" y="3703320"/>
            <a:ext cx="9445752" cy="365760"/>
          </a:xfrm>
          <a:prstGeom prst="rect">
            <a:avLst/>
          </a:prstGeom>
          <a:noFill/>
          <a:ln/>
        </p:spPr>
        <p:txBody>
          <a:bodyPr wrap="square" lIns="0" tIns="0" rIns="0" bIns="0" rtlCol="0" anchor="ctr"/>
          <a:lstStyle/>
          <a:p>
            <a:pPr algn="ctr" indent="0" marL="0">
              <a:buNone/>
            </a:pPr>
            <a:r>
              <a:rPr lang="en-US" sz="1350" i="1" dirty="0">
                <a:solidFill>
                  <a:srgbClr val="C7CAD9"/>
                </a:solidFill>
                <a:latin typeface="Calibri" pitchFamily="34" charset="0"/>
                <a:ea typeface="Calibri" pitchFamily="34" charset="-122"/>
                <a:cs typeface="Calibri" pitchFamily="34" charset="-120"/>
              </a:rPr>
              <a:t>"Type one command. Get a workspace that feels alive."</a:t>
            </a:r>
            <a:endParaRPr lang="en-US" sz="1350" dirty="0"/>
          </a:p>
        </p:txBody>
      </p:sp>
      <p:sp>
        <p:nvSpPr>
          <p:cNvPr id="9" name="Text 6"/>
          <p:cNvSpPr txBox="1"/>
          <p:nvPr/>
        </p:nvSpPr>
        <p:spPr>
          <a:xfrm>
            <a:off x="0" y="5074920"/>
            <a:ext cx="12191695" cy="274320"/>
          </a:xfrm>
          <a:prstGeom prst="rect">
            <a:avLst/>
          </a:prstGeom>
          <a:noFill/>
          <a:ln/>
        </p:spPr>
        <p:txBody>
          <a:bodyPr wrap="square" lIns="0" tIns="0" rIns="0" bIns="0" rtlCol="0" anchor="ctr"/>
          <a:lstStyle/>
          <a:p>
            <a:pPr algn="ctr" indent="0" marL="0">
              <a:buNone/>
            </a:pPr>
            <a:r>
              <a:rPr lang="en-US" sz="1100" b="1" spc="200" kern="0" dirty="0">
                <a:solidFill>
                  <a:srgbClr val="FBBF24"/>
                </a:solidFill>
                <a:latin typeface="Calibri" pitchFamily="34" charset="0"/>
                <a:ea typeface="Calibri" pitchFamily="34" charset="-122"/>
                <a:cs typeface="Calibri" pitchFamily="34" charset="-120"/>
              </a:rPr>
              <a:t>MAJOR PROJECT REPORT — VIVA PRESENTATION</a:t>
            </a:r>
            <a:endParaRPr lang="en-US" sz="1100" dirty="0"/>
          </a:p>
        </p:txBody>
      </p:sp>
      <p:sp>
        <p:nvSpPr>
          <p:cNvPr id="10" name="Text 7"/>
          <p:cNvSpPr txBox="1"/>
          <p:nvPr/>
        </p:nvSpPr>
        <p:spPr>
          <a:xfrm>
            <a:off x="0" y="5486400"/>
            <a:ext cx="12191695" cy="29260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Shubham Paithane [2303051051245]   •   Adarsh Singh Rajput [2303051051092]</a:t>
            </a:r>
            <a:endParaRPr lang="en-US" sz="1300" dirty="0"/>
          </a:p>
        </p:txBody>
      </p:sp>
      <p:sp>
        <p:nvSpPr>
          <p:cNvPr id="11" name="Text 8"/>
          <p:cNvSpPr txBox="1"/>
          <p:nvPr/>
        </p:nvSpPr>
        <p:spPr>
          <a:xfrm>
            <a:off x="0" y="5797296"/>
            <a:ext cx="12191695" cy="274320"/>
          </a:xfrm>
          <a:prstGeom prst="rect">
            <a:avLst/>
          </a:prstGeom>
          <a:noFill/>
          <a:ln/>
        </p:spPr>
        <p:txBody>
          <a:bodyPr wrap="square" lIns="0" tIns="0" rIns="0" bIns="0" rtlCol="0" anchor="ctr"/>
          <a:lstStyle/>
          <a:p>
            <a:pPr algn="ctr" indent="0" marL="0">
              <a:buNone/>
            </a:pPr>
            <a:r>
              <a:rPr lang="en-US" sz="1200" dirty="0">
                <a:solidFill>
                  <a:srgbClr val="9CA3AF"/>
                </a:solidFill>
                <a:latin typeface="Calibri" pitchFamily="34" charset="0"/>
                <a:ea typeface="Calibri" pitchFamily="34" charset="-122"/>
                <a:cs typeface="Calibri" pitchFamily="34" charset="-120"/>
              </a:rPr>
              <a:t>Guided by Mr. Meet Kumar Patel, Assistant Professor, CSE</a:t>
            </a:r>
            <a:endParaRPr lang="en-US" sz="1200" dirty="0"/>
          </a:p>
        </p:txBody>
      </p:sp>
      <p:sp>
        <p:nvSpPr>
          <p:cNvPr id="12" name="Text 9"/>
          <p:cNvSpPr txBox="1"/>
          <p:nvPr/>
        </p:nvSpPr>
        <p:spPr>
          <a:xfrm>
            <a:off x="0" y="6108192"/>
            <a:ext cx="12191695" cy="27432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Parul Institute of Technology, Parul University, Vadodara  |  Session AY 2026-2027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00" b="1" spc="200" kern="0" dirty="0">
                <a:solidFill>
                  <a:srgbClr val="8B5CF6"/>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algn="l" indent="0" marL="0">
              <a:buNone/>
            </a:pPr>
            <a:r>
              <a:rPr lang="en-US" sz="3000" b="1" dirty="0">
                <a:solidFill>
                  <a:srgbClr val="13131F"/>
                </a:solidFill>
                <a:latin typeface="Calibri" pitchFamily="34" charset="0"/>
                <a:ea typeface="Calibri" pitchFamily="34" charset="-122"/>
                <a:cs typeface="Calibri" pitchFamily="34" charset="-120"/>
              </a:rPr>
              <a:t>Every project still starts the same way</a:t>
            </a:r>
            <a:endParaRPr lang="en-US" sz="3000" dirty="0"/>
          </a:p>
        </p:txBody>
      </p:sp>
      <p:sp>
        <p:nvSpPr>
          <p:cNvPr id="4" name="Shape 2"/>
          <p:cNvSpPr/>
          <p:nvPr/>
        </p:nvSpPr>
        <p:spPr>
          <a:xfrm>
            <a:off x="640080" y="1783080"/>
            <a:ext cx="658368" cy="658368"/>
          </a:xfrm>
          <a:prstGeom prst="ellipse">
            <a:avLst/>
          </a:prstGeom>
          <a:solidFill>
            <a:srgbClr val="8B5CF6"/>
          </a:solidFill>
          <a:ln/>
        </p:spPr>
      </p:sp>
      <p:pic>
        <p:nvPicPr>
          <p:cNvPr id="5" name="Image 0" descr="/tmp/aizen_pptx/assets/icons/folder_FFFFFF.png">    </p:cNvPr>
          <p:cNvPicPr>
            <a:picLocks noChangeAspect="1"/>
          </p:cNvPicPr>
          <p:nvPr/>
        </p:nvPicPr>
        <p:blipFill>
          <a:blip r:embed="rId1"/>
          <a:stretch>
            <a:fillRect/>
          </a:stretch>
        </p:blipFill>
        <p:spPr>
          <a:xfrm>
            <a:off x="798088" y="1941088"/>
            <a:ext cx="342351" cy="342351"/>
          </a:xfrm>
          <a:prstGeom prst="rect">
            <a:avLst/>
          </a:prstGeom>
        </p:spPr>
      </p:pic>
      <p:sp>
        <p:nvSpPr>
          <p:cNvPr id="6" name="Text 3"/>
          <p:cNvSpPr txBox="1"/>
          <p:nvPr/>
        </p:nvSpPr>
        <p:spPr>
          <a:xfrm>
            <a:off x="1554480" y="1755648"/>
            <a:ext cx="9692640" cy="384048"/>
          </a:xfrm>
          <a:prstGeom prst="rect">
            <a:avLst/>
          </a:prstGeom>
          <a:noFill/>
          <a:ln/>
        </p:spPr>
        <p:txBody>
          <a:bodyPr wrap="square" lIns="0" tIns="0" rIns="0" bIns="0" rtlCol="0" anchor="ctr"/>
          <a:lstStyle/>
          <a:p>
            <a:pPr indent="0" marL="0">
              <a:buNone/>
            </a:pPr>
            <a:r>
              <a:rPr lang="en-US" sz="1700" b="1" dirty="0">
                <a:solidFill>
                  <a:srgbClr val="13131F"/>
                </a:solidFill>
                <a:latin typeface="Calibri" pitchFamily="34" charset="0"/>
                <a:ea typeface="Calibri" pitchFamily="34" charset="-122"/>
                <a:cs typeface="Calibri" pitchFamily="34" charset="-120"/>
              </a:rPr>
              <a:t>Open a folder, pick a stack, wire up configuration</a:t>
            </a:r>
            <a:endParaRPr lang="en-US" sz="1700" dirty="0"/>
          </a:p>
        </p:txBody>
      </p:sp>
      <p:sp>
        <p:nvSpPr>
          <p:cNvPr id="7" name="Text 4"/>
          <p:cNvSpPr txBox="1"/>
          <p:nvPr/>
        </p:nvSpPr>
        <p:spPr>
          <a:xfrm>
            <a:off x="1554480" y="2148840"/>
            <a:ext cx="9692640" cy="4572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The same boilerplate gets rebuilt before the part that was actually the point even begins.</a:t>
            </a:r>
            <a:endParaRPr lang="en-US" sz="1300" dirty="0"/>
          </a:p>
        </p:txBody>
      </p:sp>
      <p:sp>
        <p:nvSpPr>
          <p:cNvPr id="8" name="Shape 5"/>
          <p:cNvSpPr/>
          <p:nvPr/>
        </p:nvSpPr>
        <p:spPr>
          <a:xfrm>
            <a:off x="640080" y="3200400"/>
            <a:ext cx="658368" cy="658368"/>
          </a:xfrm>
          <a:prstGeom prst="ellipse">
            <a:avLst/>
          </a:prstGeom>
          <a:solidFill>
            <a:srgbClr val="22D3EE"/>
          </a:solidFill>
          <a:ln/>
        </p:spPr>
      </p:sp>
      <p:pic>
        <p:nvPicPr>
          <p:cNvPr id="9" name="Image 1" descr="/tmp/aizen_pptx/assets/icons/settings_FFFFFF.png">    </p:cNvPr>
          <p:cNvPicPr>
            <a:picLocks noChangeAspect="1"/>
          </p:cNvPicPr>
          <p:nvPr/>
        </p:nvPicPr>
        <p:blipFill>
          <a:blip r:embed="rId2"/>
          <a:stretch>
            <a:fillRect/>
          </a:stretch>
        </p:blipFill>
        <p:spPr>
          <a:xfrm>
            <a:off x="798088" y="3358408"/>
            <a:ext cx="342351" cy="342351"/>
          </a:xfrm>
          <a:prstGeom prst="rect">
            <a:avLst/>
          </a:prstGeom>
        </p:spPr>
      </p:pic>
      <p:sp>
        <p:nvSpPr>
          <p:cNvPr id="10" name="Text 6"/>
          <p:cNvSpPr txBox="1"/>
          <p:nvPr/>
        </p:nvSpPr>
        <p:spPr>
          <a:xfrm>
            <a:off x="1554480" y="3172968"/>
            <a:ext cx="9692640" cy="384048"/>
          </a:xfrm>
          <a:prstGeom prst="rect">
            <a:avLst/>
          </a:prstGeom>
          <a:noFill/>
          <a:ln/>
        </p:spPr>
        <p:txBody>
          <a:bodyPr wrap="square" lIns="0" tIns="0" rIns="0" bIns="0" rtlCol="0" anchor="ctr"/>
          <a:lstStyle/>
          <a:p>
            <a:pPr indent="0" marL="0">
              <a:buNone/>
            </a:pPr>
            <a:r>
              <a:rPr lang="en-US" sz="1700" b="1" dirty="0">
                <a:solidFill>
                  <a:srgbClr val="13131F"/>
                </a:solidFill>
                <a:latin typeface="Calibri" pitchFamily="34" charset="0"/>
                <a:ea typeface="Calibri" pitchFamily="34" charset="-122"/>
                <a:cs typeface="Calibri" pitchFamily="34" charset="-120"/>
              </a:rPr>
              <a:t>AI autocomplete gets you a suggestion, not a project</a:t>
            </a:r>
            <a:endParaRPr lang="en-US" sz="1700" dirty="0"/>
          </a:p>
        </p:txBody>
      </p:sp>
      <p:sp>
        <p:nvSpPr>
          <p:cNvPr id="11" name="Text 7"/>
          <p:cNvSpPr txBox="1"/>
          <p:nvPr/>
        </p:nvSpPr>
        <p:spPr>
          <a:xfrm>
            <a:off x="1554480" y="3566160"/>
            <a:ext cx="9692640" cy="4572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The developer still owns the project structure, the stack choice, and actually running what was written.</a:t>
            </a:r>
            <a:endParaRPr lang="en-US" sz="1300" dirty="0"/>
          </a:p>
        </p:txBody>
      </p:sp>
      <p:sp>
        <p:nvSpPr>
          <p:cNvPr id="12" name="Shape 8"/>
          <p:cNvSpPr/>
          <p:nvPr/>
        </p:nvSpPr>
        <p:spPr>
          <a:xfrm>
            <a:off x="640080" y="4617720"/>
            <a:ext cx="658368" cy="658368"/>
          </a:xfrm>
          <a:prstGeom prst="ellipse">
            <a:avLst/>
          </a:prstGeom>
          <a:solidFill>
            <a:srgbClr val="FBBF24"/>
          </a:solidFill>
          <a:ln/>
        </p:spPr>
      </p:sp>
      <p:pic>
        <p:nvPicPr>
          <p:cNvPr id="13" name="Image 2" descr="/tmp/aizen_pptx/assets/icons/clock_FFFFFF.png">    </p:cNvPr>
          <p:cNvPicPr>
            <a:picLocks noChangeAspect="1"/>
          </p:cNvPicPr>
          <p:nvPr/>
        </p:nvPicPr>
        <p:blipFill>
          <a:blip r:embed="rId3"/>
          <a:stretch>
            <a:fillRect/>
          </a:stretch>
        </p:blipFill>
        <p:spPr>
          <a:xfrm>
            <a:off x="798088" y="4775728"/>
            <a:ext cx="342351" cy="342351"/>
          </a:xfrm>
          <a:prstGeom prst="rect">
            <a:avLst/>
          </a:prstGeom>
        </p:spPr>
      </p:pic>
      <p:sp>
        <p:nvSpPr>
          <p:cNvPr id="14" name="Text 9"/>
          <p:cNvSpPr txBox="1"/>
          <p:nvPr/>
        </p:nvSpPr>
        <p:spPr>
          <a:xfrm>
            <a:off x="1554480" y="4590288"/>
            <a:ext cx="9692640" cy="384048"/>
          </a:xfrm>
          <a:prstGeom prst="rect">
            <a:avLst/>
          </a:prstGeom>
          <a:noFill/>
          <a:ln/>
        </p:spPr>
        <p:txBody>
          <a:bodyPr wrap="square" lIns="0" tIns="0" rIns="0" bIns="0" rtlCol="0" anchor="ctr"/>
          <a:lstStyle/>
          <a:p>
            <a:pPr indent="0" marL="0">
              <a:buNone/>
            </a:pPr>
            <a:r>
              <a:rPr lang="en-US" sz="1700" b="1" dirty="0">
                <a:solidFill>
                  <a:srgbClr val="13131F"/>
                </a:solidFill>
                <a:latin typeface="Calibri" pitchFamily="34" charset="0"/>
                <a:ea typeface="Calibri" pitchFamily="34" charset="-122"/>
                <a:cs typeface="Calibri" pitchFamily="34" charset="-120"/>
              </a:rPr>
              <a:t>That overhead repeats on every build</a:t>
            </a:r>
            <a:endParaRPr lang="en-US" sz="1700" dirty="0"/>
          </a:p>
        </p:txBody>
      </p:sp>
      <p:sp>
        <p:nvSpPr>
          <p:cNvPr id="15" name="Text 10"/>
          <p:cNvSpPr txBox="1"/>
          <p:nvPr/>
        </p:nvSpPr>
        <p:spPr>
          <a:xfrm>
            <a:off x="1554480" y="4983480"/>
            <a:ext cx="9692640" cy="4572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Hackathons, prototypes, and personal projects all lose the same setup time — every single time.</a:t>
            </a:r>
            <a:endParaRPr lang="en-US" sz="1300" dirty="0"/>
          </a:p>
        </p:txBody>
      </p:sp>
      <p:sp>
        <p:nvSpPr>
          <p:cNvPr id="16" name="Text 11"/>
          <p:cNvSpPr txBox="1"/>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B9BBC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00" b="1" spc="200" kern="0" dirty="0">
                <a:solidFill>
                  <a:srgbClr val="8B5CF6"/>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algn="l" indent="0" marL="0">
              <a:buNone/>
            </a:pPr>
            <a:r>
              <a:rPr lang="en-US" sz="3000" b="1" dirty="0">
                <a:solidFill>
                  <a:srgbClr val="13131F"/>
                </a:solidFill>
                <a:latin typeface="Calibri" pitchFamily="34" charset="0"/>
                <a:ea typeface="Calibri" pitchFamily="34" charset="-122"/>
                <a:cs typeface="Calibri" pitchFamily="34" charset="-120"/>
              </a:rPr>
              <a:t>What Aizen set out to prove</a:t>
            </a:r>
            <a:endParaRPr lang="en-US" sz="3000" dirty="0"/>
          </a:p>
        </p:txBody>
      </p:sp>
      <p:sp>
        <p:nvSpPr>
          <p:cNvPr id="4" name="Text 2"/>
          <p:cNvSpPr txBox="1"/>
          <p:nvPr/>
        </p:nvSpPr>
        <p:spPr>
          <a:xfrm>
            <a:off x="640080" y="1600200"/>
            <a:ext cx="4114800" cy="2926080"/>
          </a:xfrm>
          <a:prstGeom prst="rect">
            <a:avLst/>
          </a:prstGeom>
          <a:noFill/>
          <a:ln/>
        </p:spPr>
        <p:txBody>
          <a:bodyPr wrap="square" lIns="0" tIns="0" rIns="0" bIns="0" rtlCol="0" anchor="ctr"/>
          <a:lstStyle/>
          <a:p>
            <a:pPr indent="0" marL="0">
              <a:lnSpc>
                <a:spcPts val="2200"/>
              </a:lnSpc>
              <a:buNone/>
            </a:pPr>
            <a:r>
              <a:rPr lang="en-US" sz="1400" dirty="0">
                <a:solidFill>
                  <a:srgbClr val="6B7280"/>
                </a:solidFill>
                <a:latin typeface="Calibri" pitchFamily="34" charset="0"/>
                <a:ea typeface="Calibri" pitchFamily="34" charset="-122"/>
                <a:cs typeface="Calibri" pitchFamily="34" charset="-120"/>
              </a:rPr>
              <a:t>Six concrete objectives guided the build, moving the minor project from a diagram-level idea to a system that is directly testable: a build request either produces a running project, or a clear, logged error explaining why not.</a:t>
            </a:r>
            <a:endParaRPr lang="en-US" sz="1400" dirty="0"/>
          </a:p>
        </p:txBody>
      </p:sp>
      <p:sp>
        <p:nvSpPr>
          <p:cNvPr id="5" name="Shape 3"/>
          <p:cNvSpPr/>
          <p:nvPr/>
        </p:nvSpPr>
        <p:spPr>
          <a:xfrm>
            <a:off x="5074920" y="1554480"/>
            <a:ext cx="6492240" cy="1371600"/>
          </a:xfrm>
          <a:prstGeom prst="roundRect">
            <a:avLst>
              <a:gd name="adj" fmla="val 6667"/>
            </a:avLst>
          </a:prstGeom>
          <a:solidFill>
            <a:srgbClr val="F5F5FB"/>
          </a:solidFill>
          <a:ln/>
        </p:spPr>
      </p:sp>
      <p:sp>
        <p:nvSpPr>
          <p:cNvPr id="6" name="Shape 4"/>
          <p:cNvSpPr/>
          <p:nvPr/>
        </p:nvSpPr>
        <p:spPr>
          <a:xfrm>
            <a:off x="5349240" y="1938528"/>
            <a:ext cx="603504" cy="603504"/>
          </a:xfrm>
          <a:prstGeom prst="ellipse">
            <a:avLst/>
          </a:prstGeom>
          <a:solidFill>
            <a:srgbClr val="8B5CF6"/>
          </a:solidFill>
          <a:ln/>
        </p:spPr>
      </p:sp>
      <p:pic>
        <p:nvPicPr>
          <p:cNvPr id="7" name="Image 0" descr="/tmp/aizen_pptx/assets/icons/zap_FFFFFF.png">    </p:cNvPr>
          <p:cNvPicPr>
            <a:picLocks noChangeAspect="1"/>
          </p:cNvPicPr>
          <p:nvPr/>
        </p:nvPicPr>
        <p:blipFill>
          <a:blip r:embed="rId1"/>
          <a:stretch>
            <a:fillRect/>
          </a:stretch>
        </p:blipFill>
        <p:spPr>
          <a:xfrm>
            <a:off x="5494081" y="2083369"/>
            <a:ext cx="313822" cy="313822"/>
          </a:xfrm>
          <a:prstGeom prst="rect">
            <a:avLst/>
          </a:prstGeom>
        </p:spPr>
      </p:pic>
      <p:sp>
        <p:nvSpPr>
          <p:cNvPr id="8" name="Text 5"/>
          <p:cNvSpPr txBox="1"/>
          <p:nvPr/>
        </p:nvSpPr>
        <p:spPr>
          <a:xfrm>
            <a:off x="6172200" y="1755648"/>
            <a:ext cx="5212080" cy="365760"/>
          </a:xfrm>
          <a:prstGeom prst="rect">
            <a:avLst/>
          </a:prstGeom>
          <a:noFill/>
          <a:ln/>
        </p:spPr>
        <p:txBody>
          <a:bodyPr wrap="square" lIns="0" tIns="0" rIns="0" bIns="0" rtlCol="0" anchor="ctr"/>
          <a:lstStyle/>
          <a:p>
            <a:pPr indent="0" marL="0">
              <a:buNone/>
            </a:pPr>
            <a:r>
              <a:rPr lang="en-US" sz="1550" b="1" dirty="0">
                <a:solidFill>
                  <a:srgbClr val="13131F"/>
                </a:solidFill>
                <a:latin typeface="Calibri" pitchFamily="34" charset="0"/>
                <a:ea typeface="Calibri" pitchFamily="34" charset="-122"/>
                <a:cs typeface="Calibri" pitchFamily="34" charset="-120"/>
              </a:rPr>
              <a:t>Classify intent reliably</a:t>
            </a:r>
            <a:endParaRPr lang="en-US" sz="1550" dirty="0"/>
          </a:p>
        </p:txBody>
      </p:sp>
      <p:sp>
        <p:nvSpPr>
          <p:cNvPr id="9" name="Text 6"/>
          <p:cNvSpPr txBox="1"/>
          <p:nvPr/>
        </p:nvSpPr>
        <p:spPr>
          <a:xfrm>
            <a:off x="6172200" y="2139696"/>
            <a:ext cx="5212080" cy="640080"/>
          </a:xfrm>
          <a:prstGeom prst="rect">
            <a:avLst/>
          </a:prstGeom>
          <a:noFill/>
          <a:ln/>
        </p:spPr>
        <p:txBody>
          <a:bodyPr wrap="square" lIns="0" tIns="0" rIns="0" bIns="0" rtlCol="0" anchor="ctr"/>
          <a:lstStyle/>
          <a:p>
            <a:pPr indent="0" marL="0">
              <a:lnSpc>
                <a:spcPts val="1600"/>
              </a:lnSpc>
              <a:buNone/>
            </a:pPr>
            <a:r>
              <a:rPr lang="en-US" sz="1200" dirty="0">
                <a:solidFill>
                  <a:srgbClr val="6B7280"/>
                </a:solidFill>
                <a:latin typeface="Calibri" pitchFamily="34" charset="0"/>
                <a:ea typeface="Calibri" pitchFamily="34" charset="-122"/>
                <a:cs typeface="Calibri" pitchFamily="34" charset="-120"/>
              </a:rPr>
              <a:t>Route each instruction to a conversational reply, a new build, or a refinement.</a:t>
            </a:r>
            <a:endParaRPr lang="en-US" sz="1200" dirty="0"/>
          </a:p>
        </p:txBody>
      </p:sp>
      <p:sp>
        <p:nvSpPr>
          <p:cNvPr id="10" name="Shape 7"/>
          <p:cNvSpPr/>
          <p:nvPr/>
        </p:nvSpPr>
        <p:spPr>
          <a:xfrm>
            <a:off x="5074920" y="3108960"/>
            <a:ext cx="6492240" cy="1371600"/>
          </a:xfrm>
          <a:prstGeom prst="roundRect">
            <a:avLst>
              <a:gd name="adj" fmla="val 6667"/>
            </a:avLst>
          </a:prstGeom>
          <a:solidFill>
            <a:srgbClr val="F5F5FB"/>
          </a:solidFill>
          <a:ln/>
        </p:spPr>
      </p:sp>
      <p:sp>
        <p:nvSpPr>
          <p:cNvPr id="11" name="Shape 8"/>
          <p:cNvSpPr/>
          <p:nvPr/>
        </p:nvSpPr>
        <p:spPr>
          <a:xfrm>
            <a:off x="5349240" y="3493008"/>
            <a:ext cx="603504" cy="603504"/>
          </a:xfrm>
          <a:prstGeom prst="ellipse">
            <a:avLst/>
          </a:prstGeom>
          <a:solidFill>
            <a:srgbClr val="22D3EE"/>
          </a:solidFill>
          <a:ln/>
        </p:spPr>
      </p:sp>
      <p:pic>
        <p:nvPicPr>
          <p:cNvPr id="12" name="Image 1" descr="/tmp/aizen_pptx/assets/icons/package_FFFFFF.png">    </p:cNvPr>
          <p:cNvPicPr>
            <a:picLocks noChangeAspect="1"/>
          </p:cNvPicPr>
          <p:nvPr/>
        </p:nvPicPr>
        <p:blipFill>
          <a:blip r:embed="rId2"/>
          <a:stretch>
            <a:fillRect/>
          </a:stretch>
        </p:blipFill>
        <p:spPr>
          <a:xfrm>
            <a:off x="5494081" y="3637849"/>
            <a:ext cx="313822" cy="313822"/>
          </a:xfrm>
          <a:prstGeom prst="rect">
            <a:avLst/>
          </a:prstGeom>
        </p:spPr>
      </p:pic>
      <p:sp>
        <p:nvSpPr>
          <p:cNvPr id="13" name="Text 9"/>
          <p:cNvSpPr txBox="1"/>
          <p:nvPr/>
        </p:nvSpPr>
        <p:spPr>
          <a:xfrm>
            <a:off x="6172200" y="3310128"/>
            <a:ext cx="5212080" cy="365760"/>
          </a:xfrm>
          <a:prstGeom prst="rect">
            <a:avLst/>
          </a:prstGeom>
          <a:noFill/>
          <a:ln/>
        </p:spPr>
        <p:txBody>
          <a:bodyPr wrap="square" lIns="0" tIns="0" rIns="0" bIns="0" rtlCol="0" anchor="ctr"/>
          <a:lstStyle/>
          <a:p>
            <a:pPr indent="0" marL="0">
              <a:buNone/>
            </a:pPr>
            <a:r>
              <a:rPr lang="en-US" sz="1550" b="1" dirty="0">
                <a:solidFill>
                  <a:srgbClr val="13131F"/>
                </a:solidFill>
                <a:latin typeface="Calibri" pitchFamily="34" charset="0"/>
                <a:ea typeface="Calibri" pitchFamily="34" charset="-122"/>
                <a:cs typeface="Calibri" pitchFamily="34" charset="-120"/>
              </a:rPr>
              <a:t>Generate real, multi-stack projects</a:t>
            </a:r>
            <a:endParaRPr lang="en-US" sz="1550" dirty="0"/>
          </a:p>
        </p:txBody>
      </p:sp>
      <p:sp>
        <p:nvSpPr>
          <p:cNvPr id="14" name="Text 10"/>
          <p:cNvSpPr txBox="1"/>
          <p:nvPr/>
        </p:nvSpPr>
        <p:spPr>
          <a:xfrm>
            <a:off x="6172200" y="3694176"/>
            <a:ext cx="5212080" cy="640080"/>
          </a:xfrm>
          <a:prstGeom prst="rect">
            <a:avLst/>
          </a:prstGeom>
          <a:noFill/>
          <a:ln/>
        </p:spPr>
        <p:txBody>
          <a:bodyPr wrap="square" lIns="0" tIns="0" rIns="0" bIns="0" rtlCol="0" anchor="ctr"/>
          <a:lstStyle/>
          <a:p>
            <a:pPr indent="0" marL="0">
              <a:lnSpc>
                <a:spcPts val="1600"/>
              </a:lnSpc>
              <a:buNone/>
            </a:pPr>
            <a:r>
              <a:rPr lang="en-US" sz="1200" dirty="0">
                <a:solidFill>
                  <a:srgbClr val="6B7280"/>
                </a:solidFill>
                <a:latin typeface="Calibri" pitchFamily="34" charset="0"/>
                <a:ea typeface="Calibri" pitchFamily="34" charset="-122"/>
                <a:cs typeface="Calibri" pitchFamily="34" charset="-120"/>
              </a:rPr>
              <a:t>React, Flask, Node/Express, Python, Java, C++, PHP and plain HTML — not one hard-coded template.</a:t>
            </a:r>
            <a:endParaRPr lang="en-US" sz="1200" dirty="0"/>
          </a:p>
        </p:txBody>
      </p:sp>
      <p:sp>
        <p:nvSpPr>
          <p:cNvPr id="15" name="Shape 11"/>
          <p:cNvSpPr/>
          <p:nvPr/>
        </p:nvSpPr>
        <p:spPr>
          <a:xfrm>
            <a:off x="5074920" y="4663440"/>
            <a:ext cx="6492240" cy="1371600"/>
          </a:xfrm>
          <a:prstGeom prst="roundRect">
            <a:avLst>
              <a:gd name="adj" fmla="val 6667"/>
            </a:avLst>
          </a:prstGeom>
          <a:solidFill>
            <a:srgbClr val="F5F5FB"/>
          </a:solidFill>
          <a:ln/>
        </p:spPr>
      </p:sp>
      <p:sp>
        <p:nvSpPr>
          <p:cNvPr id="16" name="Shape 12"/>
          <p:cNvSpPr/>
          <p:nvPr/>
        </p:nvSpPr>
        <p:spPr>
          <a:xfrm>
            <a:off x="5349240" y="5047488"/>
            <a:ext cx="603504" cy="603504"/>
          </a:xfrm>
          <a:prstGeom prst="ellipse">
            <a:avLst/>
          </a:prstGeom>
          <a:solidFill>
            <a:srgbClr val="FBBF24"/>
          </a:solidFill>
          <a:ln/>
        </p:spPr>
      </p:sp>
      <p:pic>
        <p:nvPicPr>
          <p:cNvPr id="17" name="Image 2" descr="/tmp/aizen_pptx/assets/icons/refresh_FFFFFF.png">    </p:cNvPr>
          <p:cNvPicPr>
            <a:picLocks noChangeAspect="1"/>
          </p:cNvPicPr>
          <p:nvPr/>
        </p:nvPicPr>
        <p:blipFill>
          <a:blip r:embed="rId3"/>
          <a:stretch>
            <a:fillRect/>
          </a:stretch>
        </p:blipFill>
        <p:spPr>
          <a:xfrm>
            <a:off x="5494081" y="5192329"/>
            <a:ext cx="313822" cy="313822"/>
          </a:xfrm>
          <a:prstGeom prst="rect">
            <a:avLst/>
          </a:prstGeom>
        </p:spPr>
      </p:pic>
      <p:sp>
        <p:nvSpPr>
          <p:cNvPr id="18" name="Text 13"/>
          <p:cNvSpPr txBox="1"/>
          <p:nvPr/>
        </p:nvSpPr>
        <p:spPr>
          <a:xfrm>
            <a:off x="6172200" y="4864608"/>
            <a:ext cx="5212080" cy="365760"/>
          </a:xfrm>
          <a:prstGeom prst="rect">
            <a:avLst/>
          </a:prstGeom>
          <a:noFill/>
          <a:ln/>
        </p:spPr>
        <p:txBody>
          <a:bodyPr wrap="square" lIns="0" tIns="0" rIns="0" bIns="0" rtlCol="0" anchor="ctr"/>
          <a:lstStyle/>
          <a:p>
            <a:pPr indent="0" marL="0">
              <a:buNone/>
            </a:pPr>
            <a:r>
              <a:rPr lang="en-US" sz="1550" b="1" dirty="0">
                <a:solidFill>
                  <a:srgbClr val="13131F"/>
                </a:solidFill>
                <a:latin typeface="Calibri" pitchFamily="34" charset="0"/>
                <a:ea typeface="Calibri" pitchFamily="34" charset="-122"/>
                <a:cs typeface="Calibri" pitchFamily="34" charset="-120"/>
              </a:rPr>
              <a:t>Let the agent correct its own output</a:t>
            </a:r>
            <a:endParaRPr lang="en-US" sz="1550" dirty="0"/>
          </a:p>
        </p:txBody>
      </p:sp>
      <p:sp>
        <p:nvSpPr>
          <p:cNvPr id="19" name="Text 14"/>
          <p:cNvSpPr txBox="1"/>
          <p:nvPr/>
        </p:nvSpPr>
        <p:spPr>
          <a:xfrm>
            <a:off x="6172200" y="5248656"/>
            <a:ext cx="5212080" cy="640080"/>
          </a:xfrm>
          <a:prstGeom prst="rect">
            <a:avLst/>
          </a:prstGeom>
          <a:noFill/>
          <a:ln/>
        </p:spPr>
        <p:txBody>
          <a:bodyPr wrap="square" lIns="0" tIns="0" rIns="0" bIns="0" rtlCol="0" anchor="ctr"/>
          <a:lstStyle/>
          <a:p>
            <a:pPr indent="0" marL="0">
              <a:lnSpc>
                <a:spcPts val="1600"/>
              </a:lnSpc>
              <a:buNone/>
            </a:pPr>
            <a:r>
              <a:rPr lang="en-US" sz="1200" dirty="0">
                <a:solidFill>
                  <a:srgbClr val="6B7280"/>
                </a:solidFill>
                <a:latin typeface="Calibri" pitchFamily="34" charset="0"/>
                <a:ea typeface="Calibri" pitchFamily="34" charset="-122"/>
                <a:cs typeface="Calibri" pitchFamily="34" charset="-120"/>
              </a:rPr>
              <a:t>A bounded tool-use loop lists, reads, rewrites and runs files instead of generating once and stopping.</a:t>
            </a:r>
            <a:endParaRPr lang="en-US" sz="1200" dirty="0"/>
          </a:p>
        </p:txBody>
      </p:sp>
      <p:sp>
        <p:nvSpPr>
          <p:cNvPr id="20" name="Text 15"/>
          <p:cNvSpPr txBox="1"/>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B9BBC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00" b="1" spc="200" kern="0" dirty="0">
                <a:solidFill>
                  <a:srgbClr val="8B5CF6"/>
                </a:solidFill>
                <a:latin typeface="Calibri" pitchFamily="34" charset="0"/>
                <a:ea typeface="Calibri" pitchFamily="34" charset="-122"/>
                <a:cs typeface="Calibri" pitchFamily="34" charset="-120"/>
              </a:rPr>
              <a:t>MINOR PROJECT → MAJOR PROJECT</a:t>
            </a:r>
            <a:endParaRPr lang="en-US" sz="12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algn="l" indent="0" marL="0">
              <a:buNone/>
            </a:pPr>
            <a:r>
              <a:rPr lang="en-US" sz="3000" b="1" dirty="0">
                <a:solidFill>
                  <a:srgbClr val="13131F"/>
                </a:solidFill>
                <a:latin typeface="Calibri" pitchFamily="34" charset="0"/>
                <a:ea typeface="Calibri" pitchFamily="34" charset="-122"/>
                <a:cs typeface="Calibri" pitchFamily="34" charset="-120"/>
              </a:rPr>
              <a:t>From a diagram to a working system</a:t>
            </a:r>
            <a:endParaRPr lang="en-US" sz="3000" dirty="0"/>
          </a:p>
        </p:txBody>
      </p:sp>
      <p:sp>
        <p:nvSpPr>
          <p:cNvPr id="4" name="Shape 2"/>
          <p:cNvSpPr/>
          <p:nvPr/>
        </p:nvSpPr>
        <p:spPr>
          <a:xfrm>
            <a:off x="640080" y="1600200"/>
            <a:ext cx="5257800" cy="4572000"/>
          </a:xfrm>
          <a:prstGeom prst="roundRect">
            <a:avLst>
              <a:gd name="adj" fmla="val 2000"/>
            </a:avLst>
          </a:prstGeom>
          <a:solidFill>
            <a:srgbClr val="F5F5FB"/>
          </a:solidFill>
          <a:ln/>
        </p:spPr>
      </p:sp>
      <p:sp>
        <p:nvSpPr>
          <p:cNvPr id="5" name="Shape 3"/>
          <p:cNvSpPr/>
          <p:nvPr/>
        </p:nvSpPr>
        <p:spPr>
          <a:xfrm>
            <a:off x="6217920" y="1600200"/>
            <a:ext cx="5257800" cy="4572000"/>
          </a:xfrm>
          <a:prstGeom prst="roundRect">
            <a:avLst>
              <a:gd name="adj" fmla="val 2000"/>
            </a:avLst>
          </a:prstGeom>
          <a:solidFill>
            <a:srgbClr val="F1EBFE"/>
          </a:solidFill>
          <a:ln/>
        </p:spPr>
      </p:sp>
      <p:sp>
        <p:nvSpPr>
          <p:cNvPr id="6" name="Text 4"/>
          <p:cNvSpPr txBox="1"/>
          <p:nvPr/>
        </p:nvSpPr>
        <p:spPr>
          <a:xfrm>
            <a:off x="960120" y="1856232"/>
            <a:ext cx="4617720" cy="320040"/>
          </a:xfrm>
          <a:prstGeom prst="rect">
            <a:avLst/>
          </a:prstGeom>
          <a:noFill/>
          <a:ln/>
        </p:spPr>
        <p:txBody>
          <a:bodyPr wrap="square" lIns="0" tIns="0" rIns="0" bIns="0" rtlCol="0" anchor="ctr"/>
          <a:lstStyle/>
          <a:p>
            <a:pPr indent="0" marL="0">
              <a:buNone/>
            </a:pPr>
            <a:r>
              <a:rPr lang="en-US" sz="1300" b="1" spc="150" kern="0" dirty="0">
                <a:solidFill>
                  <a:srgbClr val="6B7280"/>
                </a:solidFill>
                <a:latin typeface="Calibri" pitchFamily="34" charset="0"/>
                <a:ea typeface="Calibri" pitchFamily="34" charset="-122"/>
                <a:cs typeface="Calibri" pitchFamily="34" charset="-120"/>
              </a:rPr>
              <a:t>MINOR PROJECT</a:t>
            </a:r>
            <a:endParaRPr lang="en-US" sz="1300" dirty="0"/>
          </a:p>
        </p:txBody>
      </p:sp>
      <p:sp>
        <p:nvSpPr>
          <p:cNvPr id="7" name="Text 5"/>
          <p:cNvSpPr txBox="1"/>
          <p:nvPr/>
        </p:nvSpPr>
        <p:spPr>
          <a:xfrm>
            <a:off x="6537960" y="1856232"/>
            <a:ext cx="4617720" cy="320040"/>
          </a:xfrm>
          <a:prstGeom prst="rect">
            <a:avLst/>
          </a:prstGeom>
          <a:noFill/>
          <a:ln/>
        </p:spPr>
        <p:txBody>
          <a:bodyPr wrap="square" lIns="0" tIns="0" rIns="0" bIns="0" rtlCol="0" anchor="ctr"/>
          <a:lstStyle/>
          <a:p>
            <a:pPr indent="0" marL="0">
              <a:buNone/>
            </a:pPr>
            <a:r>
              <a:rPr lang="en-US" sz="1300" b="1" spc="150" kern="0" dirty="0">
                <a:solidFill>
                  <a:srgbClr val="6D28D9"/>
                </a:solidFill>
                <a:latin typeface="Calibri" pitchFamily="34" charset="0"/>
                <a:ea typeface="Calibri" pitchFamily="34" charset="-122"/>
                <a:cs typeface="Calibri" pitchFamily="34" charset="-120"/>
              </a:rPr>
              <a:t>MAJOR PROJECT — AIZEN</a:t>
            </a:r>
            <a:endParaRPr lang="en-US" sz="1300" dirty="0"/>
          </a:p>
        </p:txBody>
      </p:sp>
      <p:sp>
        <p:nvSpPr>
          <p:cNvPr id="8" name="Text 6"/>
          <p:cNvSpPr txBox="1"/>
          <p:nvPr/>
        </p:nvSpPr>
        <p:spPr>
          <a:xfrm>
            <a:off x="960120" y="2468880"/>
            <a:ext cx="4617720" cy="27432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Implementation</a:t>
            </a:r>
            <a:endParaRPr lang="en-US" sz="1300" dirty="0"/>
          </a:p>
        </p:txBody>
      </p:sp>
      <p:sp>
        <p:nvSpPr>
          <p:cNvPr id="9" name="Text 7"/>
          <p:cNvSpPr txBox="1"/>
          <p:nvPr/>
        </p:nvSpPr>
        <p:spPr>
          <a:xfrm>
            <a:off x="960120" y="2761488"/>
            <a:ext cx="4617720" cy="566928"/>
          </a:xfrm>
          <a:prstGeom prst="rect">
            <a:avLst/>
          </a:prstGeom>
          <a:noFill/>
          <a:ln/>
        </p:spPr>
        <p:txBody>
          <a:bodyPr wrap="square" lIns="0" tIns="0" rIns="0" bIns="0" rtlCol="0" anchor="ctr"/>
          <a:lstStyle/>
          <a:p>
            <a:pPr indent="0" marL="0">
              <a:lnSpc>
                <a:spcPts val="1500"/>
              </a:lnSpc>
              <a:buNone/>
            </a:pPr>
            <a:r>
              <a:rPr lang="en-US" sz="1200" dirty="0">
                <a:solidFill>
                  <a:srgbClr val="13131F"/>
                </a:solidFill>
                <a:latin typeface="Calibri" pitchFamily="34" charset="0"/>
                <a:ea typeface="Calibri" pitchFamily="34" charset="-122"/>
                <a:cs typeface="Calibri" pitchFamily="34" charset="-120"/>
              </a:rPr>
              <a:t>Diagram-level design only; nothing was built or demonstrated.</a:t>
            </a:r>
            <a:endParaRPr lang="en-US" sz="1200" dirty="0"/>
          </a:p>
        </p:txBody>
      </p:sp>
      <p:sp>
        <p:nvSpPr>
          <p:cNvPr id="10" name="Text 8"/>
          <p:cNvSpPr txBox="1"/>
          <p:nvPr/>
        </p:nvSpPr>
        <p:spPr>
          <a:xfrm>
            <a:off x="960120" y="3401568"/>
            <a:ext cx="4617720" cy="27432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Technology stack</a:t>
            </a:r>
            <a:endParaRPr lang="en-US" sz="1300" dirty="0"/>
          </a:p>
        </p:txBody>
      </p:sp>
      <p:sp>
        <p:nvSpPr>
          <p:cNvPr id="11" name="Text 9"/>
          <p:cNvSpPr txBox="1"/>
          <p:nvPr/>
        </p:nvSpPr>
        <p:spPr>
          <a:xfrm>
            <a:off x="960120" y="3694176"/>
            <a:ext cx="4617720" cy="566928"/>
          </a:xfrm>
          <a:prstGeom prst="rect">
            <a:avLst/>
          </a:prstGeom>
          <a:noFill/>
          <a:ln/>
        </p:spPr>
        <p:txBody>
          <a:bodyPr wrap="square" lIns="0" tIns="0" rIns="0" bIns="0" rtlCol="0" anchor="ctr"/>
          <a:lstStyle/>
          <a:p>
            <a:pPr indent="0" marL="0">
              <a:lnSpc>
                <a:spcPts val="1500"/>
              </a:lnSpc>
              <a:buNone/>
            </a:pPr>
            <a:r>
              <a:rPr lang="en-US" sz="1200" dirty="0">
                <a:solidFill>
                  <a:srgbClr val="13131F"/>
                </a:solidFill>
                <a:latin typeface="Calibri" pitchFamily="34" charset="0"/>
                <a:ea typeface="Calibri" pitchFamily="34" charset="-122"/>
                <a:cs typeface="Calibri" pitchFamily="34" charset="-120"/>
              </a:rPr>
              <a:t>Proposed only — no backend, frontend, or database.</a:t>
            </a:r>
            <a:endParaRPr lang="en-US" sz="1200" dirty="0"/>
          </a:p>
        </p:txBody>
      </p:sp>
      <p:sp>
        <p:nvSpPr>
          <p:cNvPr id="12" name="Text 10"/>
          <p:cNvSpPr txBox="1"/>
          <p:nvPr/>
        </p:nvSpPr>
        <p:spPr>
          <a:xfrm>
            <a:off x="960120" y="4334256"/>
            <a:ext cx="4617720" cy="27432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Agent behaviour</a:t>
            </a:r>
            <a:endParaRPr lang="en-US" sz="1300" dirty="0"/>
          </a:p>
        </p:txBody>
      </p:sp>
      <p:sp>
        <p:nvSpPr>
          <p:cNvPr id="13" name="Text 11"/>
          <p:cNvSpPr txBox="1"/>
          <p:nvPr/>
        </p:nvSpPr>
        <p:spPr>
          <a:xfrm>
            <a:off x="960120" y="4626864"/>
            <a:ext cx="4617720" cy="566928"/>
          </a:xfrm>
          <a:prstGeom prst="rect">
            <a:avLst/>
          </a:prstGeom>
          <a:noFill/>
          <a:ln/>
        </p:spPr>
        <p:txBody>
          <a:bodyPr wrap="square" lIns="0" tIns="0" rIns="0" bIns="0" rtlCol="0" anchor="ctr"/>
          <a:lstStyle/>
          <a:p>
            <a:pPr indent="0" marL="0">
              <a:lnSpc>
                <a:spcPts val="1500"/>
              </a:lnSpc>
              <a:buNone/>
            </a:pPr>
            <a:r>
              <a:rPr lang="en-US" sz="1200" dirty="0">
                <a:solidFill>
                  <a:srgbClr val="13131F"/>
                </a:solidFill>
                <a:latin typeface="Calibri" pitchFamily="34" charset="0"/>
                <a:ea typeface="Calibri" pitchFamily="34" charset="-122"/>
                <a:cs typeface="Calibri" pitchFamily="34" charset="-120"/>
              </a:rPr>
              <a:t>Single-pass planning, described conceptually.</a:t>
            </a:r>
            <a:endParaRPr lang="en-US" sz="1200" dirty="0"/>
          </a:p>
        </p:txBody>
      </p:sp>
      <p:sp>
        <p:nvSpPr>
          <p:cNvPr id="14" name="Text 12"/>
          <p:cNvSpPr txBox="1"/>
          <p:nvPr/>
        </p:nvSpPr>
        <p:spPr>
          <a:xfrm>
            <a:off x="960120" y="5266944"/>
            <a:ext cx="4617720" cy="27432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Feature set</a:t>
            </a:r>
            <a:endParaRPr lang="en-US" sz="1300" dirty="0"/>
          </a:p>
        </p:txBody>
      </p:sp>
      <p:sp>
        <p:nvSpPr>
          <p:cNvPr id="15" name="Text 13"/>
          <p:cNvSpPr txBox="1"/>
          <p:nvPr/>
        </p:nvSpPr>
        <p:spPr>
          <a:xfrm>
            <a:off x="960120" y="5559552"/>
            <a:ext cx="4617720" cy="566928"/>
          </a:xfrm>
          <a:prstGeom prst="rect">
            <a:avLst/>
          </a:prstGeom>
          <a:noFill/>
          <a:ln/>
        </p:spPr>
        <p:txBody>
          <a:bodyPr wrap="square" lIns="0" tIns="0" rIns="0" bIns="0" rtlCol="0" anchor="ctr"/>
          <a:lstStyle/>
          <a:p>
            <a:pPr indent="0" marL="0">
              <a:lnSpc>
                <a:spcPts val="1500"/>
              </a:lnSpc>
              <a:buNone/>
            </a:pPr>
            <a:r>
              <a:rPr lang="en-US" sz="1200" dirty="0">
                <a:solidFill>
                  <a:srgbClr val="13131F"/>
                </a:solidFill>
                <a:latin typeface="Calibri" pitchFamily="34" charset="0"/>
                <a:ea typeface="Calibri" pitchFamily="34" charset="-122"/>
                <a:cs typeface="Calibri" pitchFamily="34" charset="-120"/>
              </a:rPr>
              <a:t>Limited to the single task-execution loop in the proposal.</a:t>
            </a:r>
            <a:endParaRPr lang="en-US" sz="1200" dirty="0"/>
          </a:p>
        </p:txBody>
      </p:sp>
      <p:sp>
        <p:nvSpPr>
          <p:cNvPr id="16" name="Text 14"/>
          <p:cNvSpPr txBox="1"/>
          <p:nvPr/>
        </p:nvSpPr>
        <p:spPr>
          <a:xfrm>
            <a:off x="6537960" y="2468880"/>
            <a:ext cx="4617720" cy="274320"/>
          </a:xfrm>
          <a:prstGeom prst="rect">
            <a:avLst/>
          </a:prstGeom>
          <a:noFill/>
          <a:ln/>
        </p:spPr>
        <p:txBody>
          <a:bodyPr wrap="square" lIns="0" tIns="0" rIns="0" bIns="0" rtlCol="0" anchor="ctr"/>
          <a:lstStyle/>
          <a:p>
            <a:pPr indent="0" marL="0">
              <a:buNone/>
            </a:pPr>
            <a:r>
              <a:rPr lang="en-US" sz="1300" b="1" dirty="0">
                <a:solidFill>
                  <a:srgbClr val="6D28D9"/>
                </a:solidFill>
                <a:latin typeface="Calibri" pitchFamily="34" charset="0"/>
                <a:ea typeface="Calibri" pitchFamily="34" charset="-122"/>
                <a:cs typeface="Calibri" pitchFamily="34" charset="-120"/>
              </a:rPr>
              <a:t>Implementation</a:t>
            </a:r>
            <a:endParaRPr lang="en-US" sz="1300" dirty="0"/>
          </a:p>
        </p:txBody>
      </p:sp>
      <p:sp>
        <p:nvSpPr>
          <p:cNvPr id="17" name="Text 15"/>
          <p:cNvSpPr txBox="1"/>
          <p:nvPr/>
        </p:nvSpPr>
        <p:spPr>
          <a:xfrm>
            <a:off x="6537960" y="2761488"/>
            <a:ext cx="4617720" cy="566928"/>
          </a:xfrm>
          <a:prstGeom prst="rect">
            <a:avLst/>
          </a:prstGeom>
          <a:noFill/>
          <a:ln/>
        </p:spPr>
        <p:txBody>
          <a:bodyPr wrap="square" lIns="0" tIns="0" rIns="0" bIns="0" rtlCol="0" anchor="ctr"/>
          <a:lstStyle/>
          <a:p>
            <a:pPr indent="0" marL="0">
              <a:lnSpc>
                <a:spcPts val="1500"/>
              </a:lnSpc>
              <a:buNone/>
            </a:pPr>
            <a:r>
              <a:rPr lang="en-US" sz="1200" dirty="0">
                <a:solidFill>
                  <a:srgbClr val="13131F"/>
                </a:solidFill>
                <a:latin typeface="Calibri" pitchFamily="34" charset="0"/>
                <a:ea typeface="Calibri" pitchFamily="34" charset="-122"/>
                <a:cs typeface="Calibri" pitchFamily="34" charset="-120"/>
              </a:rPr>
              <a:t>A complete working web app, built and used with real prompts.</a:t>
            </a:r>
            <a:endParaRPr lang="en-US" sz="1200" dirty="0"/>
          </a:p>
        </p:txBody>
      </p:sp>
      <p:sp>
        <p:nvSpPr>
          <p:cNvPr id="18" name="Text 16"/>
          <p:cNvSpPr txBox="1"/>
          <p:nvPr/>
        </p:nvSpPr>
        <p:spPr>
          <a:xfrm>
            <a:off x="6537960" y="3401568"/>
            <a:ext cx="4617720" cy="274320"/>
          </a:xfrm>
          <a:prstGeom prst="rect">
            <a:avLst/>
          </a:prstGeom>
          <a:noFill/>
          <a:ln/>
        </p:spPr>
        <p:txBody>
          <a:bodyPr wrap="square" lIns="0" tIns="0" rIns="0" bIns="0" rtlCol="0" anchor="ctr"/>
          <a:lstStyle/>
          <a:p>
            <a:pPr indent="0" marL="0">
              <a:buNone/>
            </a:pPr>
            <a:r>
              <a:rPr lang="en-US" sz="1300" b="1" dirty="0">
                <a:solidFill>
                  <a:srgbClr val="6D28D9"/>
                </a:solidFill>
                <a:latin typeface="Calibri" pitchFamily="34" charset="0"/>
                <a:ea typeface="Calibri" pitchFamily="34" charset="-122"/>
                <a:cs typeface="Calibri" pitchFamily="34" charset="-120"/>
              </a:rPr>
              <a:t>Technology stack</a:t>
            </a:r>
            <a:endParaRPr lang="en-US" sz="1300" dirty="0"/>
          </a:p>
        </p:txBody>
      </p:sp>
      <p:sp>
        <p:nvSpPr>
          <p:cNvPr id="19" name="Text 17"/>
          <p:cNvSpPr txBox="1"/>
          <p:nvPr/>
        </p:nvSpPr>
        <p:spPr>
          <a:xfrm>
            <a:off x="6537960" y="3694176"/>
            <a:ext cx="4617720" cy="566928"/>
          </a:xfrm>
          <a:prstGeom prst="rect">
            <a:avLst/>
          </a:prstGeom>
          <a:noFill/>
          <a:ln/>
        </p:spPr>
        <p:txBody>
          <a:bodyPr wrap="square" lIns="0" tIns="0" rIns="0" bIns="0" rtlCol="0" anchor="ctr"/>
          <a:lstStyle/>
          <a:p>
            <a:pPr indent="0" marL="0">
              <a:lnSpc>
                <a:spcPts val="1500"/>
              </a:lnSpc>
              <a:buNone/>
            </a:pPr>
            <a:r>
              <a:rPr lang="en-US" sz="1200" dirty="0">
                <a:solidFill>
                  <a:srgbClr val="13131F"/>
                </a:solidFill>
                <a:latin typeface="Calibri" pitchFamily="34" charset="0"/>
                <a:ea typeface="Calibri" pitchFamily="34" charset="-122"/>
                <a:cs typeface="Calibri" pitchFamily="34" charset="-120"/>
              </a:rPr>
              <a:t>Flask + Groq backend, React + Vite frontend, JWT auth, SQLite.</a:t>
            </a:r>
            <a:endParaRPr lang="en-US" sz="1200" dirty="0"/>
          </a:p>
        </p:txBody>
      </p:sp>
      <p:sp>
        <p:nvSpPr>
          <p:cNvPr id="20" name="Text 18"/>
          <p:cNvSpPr txBox="1"/>
          <p:nvPr/>
        </p:nvSpPr>
        <p:spPr>
          <a:xfrm>
            <a:off x="6537960" y="4334256"/>
            <a:ext cx="4617720" cy="274320"/>
          </a:xfrm>
          <a:prstGeom prst="rect">
            <a:avLst/>
          </a:prstGeom>
          <a:noFill/>
          <a:ln/>
        </p:spPr>
        <p:txBody>
          <a:bodyPr wrap="square" lIns="0" tIns="0" rIns="0" bIns="0" rtlCol="0" anchor="ctr"/>
          <a:lstStyle/>
          <a:p>
            <a:pPr indent="0" marL="0">
              <a:buNone/>
            </a:pPr>
            <a:r>
              <a:rPr lang="en-US" sz="1300" b="1" dirty="0">
                <a:solidFill>
                  <a:srgbClr val="6D28D9"/>
                </a:solidFill>
                <a:latin typeface="Calibri" pitchFamily="34" charset="0"/>
                <a:ea typeface="Calibri" pitchFamily="34" charset="-122"/>
                <a:cs typeface="Calibri" pitchFamily="34" charset="-120"/>
              </a:rPr>
              <a:t>Agent behaviour</a:t>
            </a:r>
            <a:endParaRPr lang="en-US" sz="1300" dirty="0"/>
          </a:p>
        </p:txBody>
      </p:sp>
      <p:sp>
        <p:nvSpPr>
          <p:cNvPr id="21" name="Text 19"/>
          <p:cNvSpPr txBox="1"/>
          <p:nvPr/>
        </p:nvSpPr>
        <p:spPr>
          <a:xfrm>
            <a:off x="6537960" y="4626864"/>
            <a:ext cx="4617720" cy="566928"/>
          </a:xfrm>
          <a:prstGeom prst="rect">
            <a:avLst/>
          </a:prstGeom>
          <a:noFill/>
          <a:ln/>
        </p:spPr>
        <p:txBody>
          <a:bodyPr wrap="square" lIns="0" tIns="0" rIns="0" bIns="0" rtlCol="0" anchor="ctr"/>
          <a:lstStyle/>
          <a:p>
            <a:pPr indent="0" marL="0">
              <a:lnSpc>
                <a:spcPts val="1500"/>
              </a:lnSpc>
              <a:buNone/>
            </a:pPr>
            <a:r>
              <a:rPr lang="en-US" sz="1200" dirty="0">
                <a:solidFill>
                  <a:srgbClr val="13131F"/>
                </a:solidFill>
                <a:latin typeface="Calibri" pitchFamily="34" charset="0"/>
                <a:ea typeface="Calibri" pitchFamily="34" charset="-122"/>
                <a:cs typeface="Calibri" pitchFamily="34" charset="-120"/>
              </a:rPr>
              <a:t>A bounded tool-use loop that inspects and corrects its own output.</a:t>
            </a:r>
            <a:endParaRPr lang="en-US" sz="1200" dirty="0"/>
          </a:p>
        </p:txBody>
      </p:sp>
      <p:sp>
        <p:nvSpPr>
          <p:cNvPr id="22" name="Text 20"/>
          <p:cNvSpPr txBox="1"/>
          <p:nvPr/>
        </p:nvSpPr>
        <p:spPr>
          <a:xfrm>
            <a:off x="6537960" y="5266944"/>
            <a:ext cx="4617720" cy="274320"/>
          </a:xfrm>
          <a:prstGeom prst="rect">
            <a:avLst/>
          </a:prstGeom>
          <a:noFill/>
          <a:ln/>
        </p:spPr>
        <p:txBody>
          <a:bodyPr wrap="square" lIns="0" tIns="0" rIns="0" bIns="0" rtlCol="0" anchor="ctr"/>
          <a:lstStyle/>
          <a:p>
            <a:pPr indent="0" marL="0">
              <a:buNone/>
            </a:pPr>
            <a:r>
              <a:rPr lang="en-US" sz="1300" b="1" dirty="0">
                <a:solidFill>
                  <a:srgbClr val="6D28D9"/>
                </a:solidFill>
                <a:latin typeface="Calibri" pitchFamily="34" charset="0"/>
                <a:ea typeface="Calibri" pitchFamily="34" charset="-122"/>
                <a:cs typeface="Calibri" pitchFamily="34" charset="-120"/>
              </a:rPr>
              <a:t>Feature set</a:t>
            </a:r>
            <a:endParaRPr lang="en-US" sz="1300" dirty="0"/>
          </a:p>
        </p:txBody>
      </p:sp>
      <p:sp>
        <p:nvSpPr>
          <p:cNvPr id="23" name="Text 21"/>
          <p:cNvSpPr txBox="1"/>
          <p:nvPr/>
        </p:nvSpPr>
        <p:spPr>
          <a:xfrm>
            <a:off x="6537960" y="5559552"/>
            <a:ext cx="4617720" cy="566928"/>
          </a:xfrm>
          <a:prstGeom prst="rect">
            <a:avLst/>
          </a:prstGeom>
          <a:noFill/>
          <a:ln/>
        </p:spPr>
        <p:txBody>
          <a:bodyPr wrap="square" lIns="0" tIns="0" rIns="0" bIns="0" rtlCol="0" anchor="ctr"/>
          <a:lstStyle/>
          <a:p>
            <a:pPr indent="0" marL="0">
              <a:lnSpc>
                <a:spcPts val="1500"/>
              </a:lnSpc>
              <a:buNone/>
            </a:pPr>
            <a:r>
              <a:rPr lang="en-US" sz="1200" dirty="0">
                <a:solidFill>
                  <a:srgbClr val="13131F"/>
                </a:solidFill>
                <a:latin typeface="Calibri" pitchFamily="34" charset="0"/>
                <a:ea typeface="Calibri" pitchFamily="34" charset="-122"/>
                <a:cs typeface="Calibri" pitchFamily="34" charset="-120"/>
              </a:rPr>
              <a:t>Extended with a dedicated SQL Assistant — English to SQL.</a:t>
            </a:r>
            <a:endParaRPr lang="en-US" sz="1200" dirty="0"/>
          </a:p>
        </p:txBody>
      </p:sp>
      <p:sp>
        <p:nvSpPr>
          <p:cNvPr id="24" name="Text 22"/>
          <p:cNvSpPr txBox="1"/>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B9BBC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C"/>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TECHNOLOGY STACK</a:t>
            </a:r>
            <a:endParaRPr lang="en-US" sz="12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Built on a modern, practical stack</a:t>
            </a:r>
            <a:endParaRPr lang="en-US" sz="3000" dirty="0"/>
          </a:p>
        </p:txBody>
      </p:sp>
      <p:sp>
        <p:nvSpPr>
          <p:cNvPr id="4" name="Shape 2"/>
          <p:cNvSpPr/>
          <p:nvPr/>
        </p:nvSpPr>
        <p:spPr>
          <a:xfrm>
            <a:off x="540868" y="1691640"/>
            <a:ext cx="2606040" cy="1920240"/>
          </a:xfrm>
          <a:prstGeom prst="roundRect">
            <a:avLst>
              <a:gd name="adj" fmla="val 4286"/>
            </a:avLst>
          </a:prstGeom>
          <a:solidFill>
            <a:srgbClr val="161B2E"/>
          </a:solidFill>
          <a:ln/>
        </p:spPr>
      </p:sp>
      <p:sp>
        <p:nvSpPr>
          <p:cNvPr id="5" name="Shape 3"/>
          <p:cNvSpPr/>
          <p:nvPr/>
        </p:nvSpPr>
        <p:spPr>
          <a:xfrm>
            <a:off x="1523848" y="1947672"/>
            <a:ext cx="640080" cy="640080"/>
          </a:xfrm>
          <a:prstGeom prst="ellipse">
            <a:avLst/>
          </a:prstGeom>
          <a:solidFill>
            <a:srgbClr val="1D2440"/>
          </a:solidFill>
          <a:ln/>
        </p:spPr>
      </p:sp>
      <p:pic>
        <p:nvPicPr>
          <p:cNvPr id="6" name="Image 0" descr="/tmp/aizen_pptx/assets/icons/react_22D3EE.png">    </p:cNvPr>
          <p:cNvPicPr>
            <a:picLocks noChangeAspect="1"/>
          </p:cNvPicPr>
          <p:nvPr/>
        </p:nvPicPr>
        <p:blipFill>
          <a:blip r:embed="rId1"/>
          <a:stretch>
            <a:fillRect/>
          </a:stretch>
        </p:blipFill>
        <p:spPr>
          <a:xfrm>
            <a:off x="1677467" y="2101291"/>
            <a:ext cx="332842" cy="332842"/>
          </a:xfrm>
          <a:prstGeom prst="rect">
            <a:avLst/>
          </a:prstGeom>
        </p:spPr>
      </p:pic>
      <p:sp>
        <p:nvSpPr>
          <p:cNvPr id="7" name="Text 4"/>
          <p:cNvSpPr txBox="1"/>
          <p:nvPr/>
        </p:nvSpPr>
        <p:spPr>
          <a:xfrm>
            <a:off x="678028" y="2715768"/>
            <a:ext cx="2331720"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React</a:t>
            </a:r>
            <a:endParaRPr lang="en-US" sz="1450" dirty="0"/>
          </a:p>
        </p:txBody>
      </p:sp>
      <p:sp>
        <p:nvSpPr>
          <p:cNvPr id="8" name="Text 5"/>
          <p:cNvSpPr txBox="1"/>
          <p:nvPr/>
        </p:nvSpPr>
        <p:spPr>
          <a:xfrm>
            <a:off x="632308" y="3044952"/>
            <a:ext cx="2423160" cy="457200"/>
          </a:xfrm>
          <a:prstGeom prst="rect">
            <a:avLst/>
          </a:prstGeom>
          <a:noFill/>
          <a:ln/>
        </p:spPr>
        <p:txBody>
          <a:bodyPr wrap="square" lIns="0" tIns="0" rIns="0" bIns="0" rtlCol="0" anchor="ctr"/>
          <a:lstStyle/>
          <a:p>
            <a:pPr algn="ctr" indent="0" marL="0">
              <a:lnSpc>
                <a:spcPts val="1300"/>
              </a:lnSpc>
              <a:buNone/>
            </a:pPr>
            <a:r>
              <a:rPr lang="en-US" sz="1050" dirty="0">
                <a:solidFill>
                  <a:srgbClr val="9CA3AF"/>
                </a:solidFill>
                <a:latin typeface="Calibri" pitchFamily="34" charset="0"/>
                <a:ea typeface="Calibri" pitchFamily="34" charset="-122"/>
                <a:cs typeface="Calibri" pitchFamily="34" charset="-120"/>
              </a:rPr>
              <a:t>Frontend UI</a:t>
            </a:r>
            <a:endParaRPr lang="en-US" sz="1050" dirty="0"/>
          </a:p>
        </p:txBody>
      </p:sp>
      <p:sp>
        <p:nvSpPr>
          <p:cNvPr id="9" name="Shape 6"/>
          <p:cNvSpPr/>
          <p:nvPr/>
        </p:nvSpPr>
        <p:spPr>
          <a:xfrm>
            <a:off x="3375508" y="1691640"/>
            <a:ext cx="2606040" cy="1920240"/>
          </a:xfrm>
          <a:prstGeom prst="roundRect">
            <a:avLst>
              <a:gd name="adj" fmla="val 4286"/>
            </a:avLst>
          </a:prstGeom>
          <a:solidFill>
            <a:srgbClr val="161B2E"/>
          </a:solidFill>
          <a:ln/>
        </p:spPr>
      </p:sp>
      <p:sp>
        <p:nvSpPr>
          <p:cNvPr id="10" name="Shape 7"/>
          <p:cNvSpPr/>
          <p:nvPr/>
        </p:nvSpPr>
        <p:spPr>
          <a:xfrm>
            <a:off x="4358488" y="1947672"/>
            <a:ext cx="640080" cy="640080"/>
          </a:xfrm>
          <a:prstGeom prst="ellipse">
            <a:avLst/>
          </a:prstGeom>
          <a:solidFill>
            <a:srgbClr val="1D2440"/>
          </a:solidFill>
          <a:ln/>
        </p:spPr>
      </p:sp>
      <p:pic>
        <p:nvPicPr>
          <p:cNvPr id="11" name="Image 1" descr="/tmp/aizen_pptx/assets/icons/vite_22D3EE.png">    </p:cNvPr>
          <p:cNvPicPr>
            <a:picLocks noChangeAspect="1"/>
          </p:cNvPicPr>
          <p:nvPr/>
        </p:nvPicPr>
        <p:blipFill>
          <a:blip r:embed="rId2"/>
          <a:stretch>
            <a:fillRect/>
          </a:stretch>
        </p:blipFill>
        <p:spPr>
          <a:xfrm>
            <a:off x="4512107" y="2101291"/>
            <a:ext cx="332842" cy="332842"/>
          </a:xfrm>
          <a:prstGeom prst="rect">
            <a:avLst/>
          </a:prstGeom>
        </p:spPr>
      </p:pic>
      <p:sp>
        <p:nvSpPr>
          <p:cNvPr id="12" name="Text 8"/>
          <p:cNvSpPr txBox="1"/>
          <p:nvPr/>
        </p:nvSpPr>
        <p:spPr>
          <a:xfrm>
            <a:off x="3512668" y="2715768"/>
            <a:ext cx="2331720"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Vite</a:t>
            </a:r>
            <a:endParaRPr lang="en-US" sz="1450" dirty="0"/>
          </a:p>
        </p:txBody>
      </p:sp>
      <p:sp>
        <p:nvSpPr>
          <p:cNvPr id="13" name="Text 9"/>
          <p:cNvSpPr txBox="1"/>
          <p:nvPr/>
        </p:nvSpPr>
        <p:spPr>
          <a:xfrm>
            <a:off x="3466948" y="3044952"/>
            <a:ext cx="2423160" cy="457200"/>
          </a:xfrm>
          <a:prstGeom prst="rect">
            <a:avLst/>
          </a:prstGeom>
          <a:noFill/>
          <a:ln/>
        </p:spPr>
        <p:txBody>
          <a:bodyPr wrap="square" lIns="0" tIns="0" rIns="0" bIns="0" rtlCol="0" anchor="ctr"/>
          <a:lstStyle/>
          <a:p>
            <a:pPr algn="ctr" indent="0" marL="0">
              <a:lnSpc>
                <a:spcPts val="1300"/>
              </a:lnSpc>
              <a:buNone/>
            </a:pPr>
            <a:r>
              <a:rPr lang="en-US" sz="1050" dirty="0">
                <a:solidFill>
                  <a:srgbClr val="9CA3AF"/>
                </a:solidFill>
                <a:latin typeface="Calibri" pitchFamily="34" charset="0"/>
                <a:ea typeface="Calibri" pitchFamily="34" charset="-122"/>
                <a:cs typeface="Calibri" pitchFamily="34" charset="-120"/>
              </a:rPr>
              <a:t>Build tooling</a:t>
            </a:r>
            <a:endParaRPr lang="en-US" sz="1050" dirty="0"/>
          </a:p>
        </p:txBody>
      </p:sp>
      <p:sp>
        <p:nvSpPr>
          <p:cNvPr id="14" name="Shape 10"/>
          <p:cNvSpPr/>
          <p:nvPr/>
        </p:nvSpPr>
        <p:spPr>
          <a:xfrm>
            <a:off x="6210148" y="1691640"/>
            <a:ext cx="2606040" cy="1920240"/>
          </a:xfrm>
          <a:prstGeom prst="roundRect">
            <a:avLst>
              <a:gd name="adj" fmla="val 4286"/>
            </a:avLst>
          </a:prstGeom>
          <a:solidFill>
            <a:srgbClr val="161B2E"/>
          </a:solidFill>
          <a:ln/>
        </p:spPr>
      </p:sp>
      <p:sp>
        <p:nvSpPr>
          <p:cNvPr id="15" name="Shape 11"/>
          <p:cNvSpPr/>
          <p:nvPr/>
        </p:nvSpPr>
        <p:spPr>
          <a:xfrm>
            <a:off x="7193128" y="1947672"/>
            <a:ext cx="640080" cy="640080"/>
          </a:xfrm>
          <a:prstGeom prst="ellipse">
            <a:avLst/>
          </a:prstGeom>
          <a:solidFill>
            <a:srgbClr val="1D2440"/>
          </a:solidFill>
          <a:ln/>
        </p:spPr>
      </p:sp>
      <p:pic>
        <p:nvPicPr>
          <p:cNvPr id="16" name="Image 2" descr="/tmp/aizen_pptx/assets/icons/flask_22D3EE.png">    </p:cNvPr>
          <p:cNvPicPr>
            <a:picLocks noChangeAspect="1"/>
          </p:cNvPicPr>
          <p:nvPr/>
        </p:nvPicPr>
        <p:blipFill>
          <a:blip r:embed="rId3"/>
          <a:stretch>
            <a:fillRect/>
          </a:stretch>
        </p:blipFill>
        <p:spPr>
          <a:xfrm>
            <a:off x="7346747" y="2101291"/>
            <a:ext cx="332842" cy="332842"/>
          </a:xfrm>
          <a:prstGeom prst="rect">
            <a:avLst/>
          </a:prstGeom>
        </p:spPr>
      </p:pic>
      <p:sp>
        <p:nvSpPr>
          <p:cNvPr id="17" name="Text 12"/>
          <p:cNvSpPr txBox="1"/>
          <p:nvPr/>
        </p:nvSpPr>
        <p:spPr>
          <a:xfrm>
            <a:off x="6347308" y="2715768"/>
            <a:ext cx="2331720"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Flask</a:t>
            </a:r>
            <a:endParaRPr lang="en-US" sz="1450" dirty="0"/>
          </a:p>
        </p:txBody>
      </p:sp>
      <p:sp>
        <p:nvSpPr>
          <p:cNvPr id="18" name="Text 13"/>
          <p:cNvSpPr txBox="1"/>
          <p:nvPr/>
        </p:nvSpPr>
        <p:spPr>
          <a:xfrm>
            <a:off x="6301588" y="3044952"/>
            <a:ext cx="2423160" cy="457200"/>
          </a:xfrm>
          <a:prstGeom prst="rect">
            <a:avLst/>
          </a:prstGeom>
          <a:noFill/>
          <a:ln/>
        </p:spPr>
        <p:txBody>
          <a:bodyPr wrap="square" lIns="0" tIns="0" rIns="0" bIns="0" rtlCol="0" anchor="ctr"/>
          <a:lstStyle/>
          <a:p>
            <a:pPr algn="ctr" indent="0" marL="0">
              <a:lnSpc>
                <a:spcPts val="1300"/>
              </a:lnSpc>
              <a:buNone/>
            </a:pPr>
            <a:r>
              <a:rPr lang="en-US" sz="1050" dirty="0">
                <a:solidFill>
                  <a:srgbClr val="9CA3AF"/>
                </a:solidFill>
                <a:latin typeface="Calibri" pitchFamily="34" charset="0"/>
                <a:ea typeface="Calibri" pitchFamily="34" charset="-122"/>
                <a:cs typeface="Calibri" pitchFamily="34" charset="-120"/>
              </a:rPr>
              <a:t>Backend REST / SSE API</a:t>
            </a:r>
            <a:endParaRPr lang="en-US" sz="1050" dirty="0"/>
          </a:p>
        </p:txBody>
      </p:sp>
      <p:sp>
        <p:nvSpPr>
          <p:cNvPr id="19" name="Shape 14"/>
          <p:cNvSpPr/>
          <p:nvPr/>
        </p:nvSpPr>
        <p:spPr>
          <a:xfrm>
            <a:off x="9044788" y="1691640"/>
            <a:ext cx="2606040" cy="1920240"/>
          </a:xfrm>
          <a:prstGeom prst="roundRect">
            <a:avLst>
              <a:gd name="adj" fmla="val 4286"/>
            </a:avLst>
          </a:prstGeom>
          <a:solidFill>
            <a:srgbClr val="161B2E"/>
          </a:solidFill>
          <a:ln/>
        </p:spPr>
      </p:sp>
      <p:sp>
        <p:nvSpPr>
          <p:cNvPr id="20" name="Shape 15"/>
          <p:cNvSpPr/>
          <p:nvPr/>
        </p:nvSpPr>
        <p:spPr>
          <a:xfrm>
            <a:off x="10027768" y="1947672"/>
            <a:ext cx="640080" cy="640080"/>
          </a:xfrm>
          <a:prstGeom prst="ellipse">
            <a:avLst/>
          </a:prstGeom>
          <a:solidFill>
            <a:srgbClr val="1D2440"/>
          </a:solidFill>
          <a:ln/>
        </p:spPr>
      </p:sp>
      <p:pic>
        <p:nvPicPr>
          <p:cNvPr id="21" name="Image 3" descr="/tmp/aizen_pptx/assets/icons/sqlite_22D3EE.png">    </p:cNvPr>
          <p:cNvPicPr>
            <a:picLocks noChangeAspect="1"/>
          </p:cNvPicPr>
          <p:nvPr/>
        </p:nvPicPr>
        <p:blipFill>
          <a:blip r:embed="rId4"/>
          <a:stretch>
            <a:fillRect/>
          </a:stretch>
        </p:blipFill>
        <p:spPr>
          <a:xfrm>
            <a:off x="10181387" y="2101291"/>
            <a:ext cx="332842" cy="332842"/>
          </a:xfrm>
          <a:prstGeom prst="rect">
            <a:avLst/>
          </a:prstGeom>
        </p:spPr>
      </p:pic>
      <p:sp>
        <p:nvSpPr>
          <p:cNvPr id="22" name="Text 16"/>
          <p:cNvSpPr txBox="1"/>
          <p:nvPr/>
        </p:nvSpPr>
        <p:spPr>
          <a:xfrm>
            <a:off x="9181948" y="2715768"/>
            <a:ext cx="2331720"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SQLite</a:t>
            </a:r>
            <a:endParaRPr lang="en-US" sz="1450" dirty="0"/>
          </a:p>
        </p:txBody>
      </p:sp>
      <p:sp>
        <p:nvSpPr>
          <p:cNvPr id="23" name="Text 17"/>
          <p:cNvSpPr txBox="1"/>
          <p:nvPr/>
        </p:nvSpPr>
        <p:spPr>
          <a:xfrm>
            <a:off x="9136228" y="3044952"/>
            <a:ext cx="2423160" cy="457200"/>
          </a:xfrm>
          <a:prstGeom prst="rect">
            <a:avLst/>
          </a:prstGeom>
          <a:noFill/>
          <a:ln/>
        </p:spPr>
        <p:txBody>
          <a:bodyPr wrap="square" lIns="0" tIns="0" rIns="0" bIns="0" rtlCol="0" anchor="ctr"/>
          <a:lstStyle/>
          <a:p>
            <a:pPr algn="ctr" indent="0" marL="0">
              <a:lnSpc>
                <a:spcPts val="1300"/>
              </a:lnSpc>
              <a:buNone/>
            </a:pPr>
            <a:r>
              <a:rPr lang="en-US" sz="1050" dirty="0">
                <a:solidFill>
                  <a:srgbClr val="9CA3AF"/>
                </a:solidFill>
                <a:latin typeface="Calibri" pitchFamily="34" charset="0"/>
                <a:ea typeface="Calibri" pitchFamily="34" charset="-122"/>
                <a:cs typeface="Calibri" pitchFamily="34" charset="-120"/>
              </a:rPr>
              <a:t>Users &amp; chat history</a:t>
            </a:r>
            <a:endParaRPr lang="en-US" sz="1050" dirty="0"/>
          </a:p>
        </p:txBody>
      </p:sp>
      <p:sp>
        <p:nvSpPr>
          <p:cNvPr id="24" name="Shape 18"/>
          <p:cNvSpPr/>
          <p:nvPr/>
        </p:nvSpPr>
        <p:spPr>
          <a:xfrm>
            <a:off x="540868" y="3886200"/>
            <a:ext cx="2606040" cy="1920240"/>
          </a:xfrm>
          <a:prstGeom prst="roundRect">
            <a:avLst>
              <a:gd name="adj" fmla="val 4286"/>
            </a:avLst>
          </a:prstGeom>
          <a:solidFill>
            <a:srgbClr val="161B2E"/>
          </a:solidFill>
          <a:ln/>
        </p:spPr>
      </p:sp>
      <p:sp>
        <p:nvSpPr>
          <p:cNvPr id="25" name="Shape 19"/>
          <p:cNvSpPr/>
          <p:nvPr/>
        </p:nvSpPr>
        <p:spPr>
          <a:xfrm>
            <a:off x="1523848" y="4142232"/>
            <a:ext cx="640080" cy="640080"/>
          </a:xfrm>
          <a:prstGeom prst="ellipse">
            <a:avLst/>
          </a:prstGeom>
          <a:solidFill>
            <a:srgbClr val="1D2440"/>
          </a:solidFill>
          <a:ln/>
        </p:spPr>
      </p:sp>
      <p:pic>
        <p:nvPicPr>
          <p:cNvPr id="26" name="Image 4" descr="/tmp/aizen_pptx/assets/icons/tailwind_22D3EE.png">    </p:cNvPr>
          <p:cNvPicPr>
            <a:picLocks noChangeAspect="1"/>
          </p:cNvPicPr>
          <p:nvPr/>
        </p:nvPicPr>
        <p:blipFill>
          <a:blip r:embed="rId5"/>
          <a:stretch>
            <a:fillRect/>
          </a:stretch>
        </p:blipFill>
        <p:spPr>
          <a:xfrm>
            <a:off x="1677467" y="4295851"/>
            <a:ext cx="332842" cy="332842"/>
          </a:xfrm>
          <a:prstGeom prst="rect">
            <a:avLst/>
          </a:prstGeom>
        </p:spPr>
      </p:pic>
      <p:sp>
        <p:nvSpPr>
          <p:cNvPr id="27" name="Text 20"/>
          <p:cNvSpPr txBox="1"/>
          <p:nvPr/>
        </p:nvSpPr>
        <p:spPr>
          <a:xfrm>
            <a:off x="678028" y="4910328"/>
            <a:ext cx="2331720"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Tailwind CSS</a:t>
            </a:r>
            <a:endParaRPr lang="en-US" sz="1450" dirty="0"/>
          </a:p>
        </p:txBody>
      </p:sp>
      <p:sp>
        <p:nvSpPr>
          <p:cNvPr id="28" name="Text 21"/>
          <p:cNvSpPr txBox="1"/>
          <p:nvPr/>
        </p:nvSpPr>
        <p:spPr>
          <a:xfrm>
            <a:off x="632308" y="5239512"/>
            <a:ext cx="2423160" cy="457200"/>
          </a:xfrm>
          <a:prstGeom prst="rect">
            <a:avLst/>
          </a:prstGeom>
          <a:noFill/>
          <a:ln/>
        </p:spPr>
        <p:txBody>
          <a:bodyPr wrap="square" lIns="0" tIns="0" rIns="0" bIns="0" rtlCol="0" anchor="ctr"/>
          <a:lstStyle/>
          <a:p>
            <a:pPr algn="ctr" indent="0" marL="0">
              <a:lnSpc>
                <a:spcPts val="1300"/>
              </a:lnSpc>
              <a:buNone/>
            </a:pPr>
            <a:r>
              <a:rPr lang="en-US" sz="1050" dirty="0">
                <a:solidFill>
                  <a:srgbClr val="9CA3AF"/>
                </a:solidFill>
                <a:latin typeface="Calibri" pitchFamily="34" charset="0"/>
                <a:ea typeface="Calibri" pitchFamily="34" charset="-122"/>
                <a:cs typeface="Calibri" pitchFamily="34" charset="-120"/>
              </a:rPr>
              <a:t>Design-token styling</a:t>
            </a:r>
            <a:endParaRPr lang="en-US" sz="1050" dirty="0"/>
          </a:p>
        </p:txBody>
      </p:sp>
      <p:sp>
        <p:nvSpPr>
          <p:cNvPr id="29" name="Shape 22"/>
          <p:cNvSpPr/>
          <p:nvPr/>
        </p:nvSpPr>
        <p:spPr>
          <a:xfrm>
            <a:off x="3375508" y="3886200"/>
            <a:ext cx="2606040" cy="1920240"/>
          </a:xfrm>
          <a:prstGeom prst="roundRect">
            <a:avLst>
              <a:gd name="adj" fmla="val 4286"/>
            </a:avLst>
          </a:prstGeom>
          <a:solidFill>
            <a:srgbClr val="161B2E"/>
          </a:solidFill>
          <a:ln/>
        </p:spPr>
      </p:sp>
      <p:sp>
        <p:nvSpPr>
          <p:cNvPr id="30" name="Shape 23"/>
          <p:cNvSpPr/>
          <p:nvPr/>
        </p:nvSpPr>
        <p:spPr>
          <a:xfrm>
            <a:off x="4358488" y="4142232"/>
            <a:ext cx="640080" cy="640080"/>
          </a:xfrm>
          <a:prstGeom prst="ellipse">
            <a:avLst/>
          </a:prstGeom>
          <a:solidFill>
            <a:srgbClr val="1D2440"/>
          </a:solidFill>
          <a:ln/>
        </p:spPr>
      </p:sp>
      <p:pic>
        <p:nvPicPr>
          <p:cNvPr id="31" name="Image 5" descr="/tmp/aizen_pptx/assets/icons/cpu_22D3EE.png">    </p:cNvPr>
          <p:cNvPicPr>
            <a:picLocks noChangeAspect="1"/>
          </p:cNvPicPr>
          <p:nvPr/>
        </p:nvPicPr>
        <p:blipFill>
          <a:blip r:embed="rId6"/>
          <a:stretch>
            <a:fillRect/>
          </a:stretch>
        </p:blipFill>
        <p:spPr>
          <a:xfrm>
            <a:off x="4512107" y="4295851"/>
            <a:ext cx="332842" cy="332842"/>
          </a:xfrm>
          <a:prstGeom prst="rect">
            <a:avLst/>
          </a:prstGeom>
        </p:spPr>
      </p:pic>
      <p:sp>
        <p:nvSpPr>
          <p:cNvPr id="32" name="Text 24"/>
          <p:cNvSpPr txBox="1"/>
          <p:nvPr/>
        </p:nvSpPr>
        <p:spPr>
          <a:xfrm>
            <a:off x="3512668" y="4910328"/>
            <a:ext cx="2331720"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Groq LLM API</a:t>
            </a:r>
            <a:endParaRPr lang="en-US" sz="1450" dirty="0"/>
          </a:p>
        </p:txBody>
      </p:sp>
      <p:sp>
        <p:nvSpPr>
          <p:cNvPr id="33" name="Text 25"/>
          <p:cNvSpPr txBox="1"/>
          <p:nvPr/>
        </p:nvSpPr>
        <p:spPr>
          <a:xfrm>
            <a:off x="3466948" y="5239512"/>
            <a:ext cx="2423160" cy="457200"/>
          </a:xfrm>
          <a:prstGeom prst="rect">
            <a:avLst/>
          </a:prstGeom>
          <a:noFill/>
          <a:ln/>
        </p:spPr>
        <p:txBody>
          <a:bodyPr wrap="square" lIns="0" tIns="0" rIns="0" bIns="0" rtlCol="0" anchor="ctr"/>
          <a:lstStyle/>
          <a:p>
            <a:pPr algn="ctr" indent="0" marL="0">
              <a:lnSpc>
                <a:spcPts val="1300"/>
              </a:lnSpc>
              <a:buNone/>
            </a:pPr>
            <a:r>
              <a:rPr lang="en-US" sz="1050" dirty="0">
                <a:solidFill>
                  <a:srgbClr val="9CA3AF"/>
                </a:solidFill>
                <a:latin typeface="Calibri" pitchFamily="34" charset="0"/>
                <a:ea typeface="Calibri" pitchFamily="34" charset="-122"/>
                <a:cs typeface="Calibri" pitchFamily="34" charset="-120"/>
              </a:rPr>
              <a:t>Model-backed generation</a:t>
            </a:r>
            <a:endParaRPr lang="en-US" sz="1050" dirty="0"/>
          </a:p>
        </p:txBody>
      </p:sp>
      <p:sp>
        <p:nvSpPr>
          <p:cNvPr id="34" name="Shape 26"/>
          <p:cNvSpPr/>
          <p:nvPr/>
        </p:nvSpPr>
        <p:spPr>
          <a:xfrm>
            <a:off x="6210148" y="3886200"/>
            <a:ext cx="2606040" cy="1920240"/>
          </a:xfrm>
          <a:prstGeom prst="roundRect">
            <a:avLst>
              <a:gd name="adj" fmla="val 4286"/>
            </a:avLst>
          </a:prstGeom>
          <a:solidFill>
            <a:srgbClr val="161B2E"/>
          </a:solidFill>
          <a:ln/>
        </p:spPr>
      </p:sp>
      <p:sp>
        <p:nvSpPr>
          <p:cNvPr id="35" name="Shape 27"/>
          <p:cNvSpPr/>
          <p:nvPr/>
        </p:nvSpPr>
        <p:spPr>
          <a:xfrm>
            <a:off x="7193128" y="4142232"/>
            <a:ext cx="640080" cy="640080"/>
          </a:xfrm>
          <a:prstGeom prst="ellipse">
            <a:avLst/>
          </a:prstGeom>
          <a:solidFill>
            <a:srgbClr val="1D2440"/>
          </a:solidFill>
          <a:ln/>
        </p:spPr>
      </p:sp>
      <p:pic>
        <p:nvPicPr>
          <p:cNvPr id="36" name="Image 6" descr="/tmp/aizen_pptx/assets/icons/lock_22D3EE.png">    </p:cNvPr>
          <p:cNvPicPr>
            <a:picLocks noChangeAspect="1"/>
          </p:cNvPicPr>
          <p:nvPr/>
        </p:nvPicPr>
        <p:blipFill>
          <a:blip r:embed="rId7"/>
          <a:stretch>
            <a:fillRect/>
          </a:stretch>
        </p:blipFill>
        <p:spPr>
          <a:xfrm>
            <a:off x="7346747" y="4295851"/>
            <a:ext cx="332842" cy="332842"/>
          </a:xfrm>
          <a:prstGeom prst="rect">
            <a:avLst/>
          </a:prstGeom>
        </p:spPr>
      </p:pic>
      <p:sp>
        <p:nvSpPr>
          <p:cNvPr id="37" name="Text 28"/>
          <p:cNvSpPr txBox="1"/>
          <p:nvPr/>
        </p:nvSpPr>
        <p:spPr>
          <a:xfrm>
            <a:off x="6347308" y="4910328"/>
            <a:ext cx="2331720"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JWT + bcrypt</a:t>
            </a:r>
            <a:endParaRPr lang="en-US" sz="1450" dirty="0"/>
          </a:p>
        </p:txBody>
      </p:sp>
      <p:sp>
        <p:nvSpPr>
          <p:cNvPr id="38" name="Text 29"/>
          <p:cNvSpPr txBox="1"/>
          <p:nvPr/>
        </p:nvSpPr>
        <p:spPr>
          <a:xfrm>
            <a:off x="6301588" y="5239512"/>
            <a:ext cx="2423160" cy="457200"/>
          </a:xfrm>
          <a:prstGeom prst="rect">
            <a:avLst/>
          </a:prstGeom>
          <a:noFill/>
          <a:ln/>
        </p:spPr>
        <p:txBody>
          <a:bodyPr wrap="square" lIns="0" tIns="0" rIns="0" bIns="0" rtlCol="0" anchor="ctr"/>
          <a:lstStyle/>
          <a:p>
            <a:pPr algn="ctr" indent="0" marL="0">
              <a:lnSpc>
                <a:spcPts val="1300"/>
              </a:lnSpc>
              <a:buNone/>
            </a:pPr>
            <a:r>
              <a:rPr lang="en-US" sz="1050" dirty="0">
                <a:solidFill>
                  <a:srgbClr val="9CA3AF"/>
                </a:solidFill>
                <a:latin typeface="Calibri" pitchFamily="34" charset="0"/>
                <a:ea typeface="Calibri" pitchFamily="34" charset="-122"/>
                <a:cs typeface="Calibri" pitchFamily="34" charset="-120"/>
              </a:rPr>
              <a:t>Authentication</a:t>
            </a:r>
            <a:endParaRPr lang="en-US" sz="1050" dirty="0"/>
          </a:p>
        </p:txBody>
      </p:sp>
      <p:sp>
        <p:nvSpPr>
          <p:cNvPr id="39" name="Shape 30"/>
          <p:cNvSpPr/>
          <p:nvPr/>
        </p:nvSpPr>
        <p:spPr>
          <a:xfrm>
            <a:off x="9044788" y="3886200"/>
            <a:ext cx="2606040" cy="1920240"/>
          </a:xfrm>
          <a:prstGeom prst="roundRect">
            <a:avLst>
              <a:gd name="adj" fmla="val 4286"/>
            </a:avLst>
          </a:prstGeom>
          <a:solidFill>
            <a:srgbClr val="161B2E"/>
          </a:solidFill>
          <a:ln/>
        </p:spPr>
      </p:sp>
      <p:sp>
        <p:nvSpPr>
          <p:cNvPr id="40" name="Shape 31"/>
          <p:cNvSpPr/>
          <p:nvPr/>
        </p:nvSpPr>
        <p:spPr>
          <a:xfrm>
            <a:off x="10027768" y="4142232"/>
            <a:ext cx="640080" cy="640080"/>
          </a:xfrm>
          <a:prstGeom prst="ellipse">
            <a:avLst/>
          </a:prstGeom>
          <a:solidFill>
            <a:srgbClr val="1D2440"/>
          </a:solidFill>
          <a:ln/>
        </p:spPr>
      </p:sp>
      <p:pic>
        <p:nvPicPr>
          <p:cNvPr id="41" name="Image 7" descr="/tmp/aizen_pptx/assets/icons/code_22D3EE.png">    </p:cNvPr>
          <p:cNvPicPr>
            <a:picLocks noChangeAspect="1"/>
          </p:cNvPicPr>
          <p:nvPr/>
        </p:nvPicPr>
        <p:blipFill>
          <a:blip r:embed="rId8"/>
          <a:stretch>
            <a:fillRect/>
          </a:stretch>
        </p:blipFill>
        <p:spPr>
          <a:xfrm>
            <a:off x="10181387" y="4295851"/>
            <a:ext cx="332842" cy="332842"/>
          </a:xfrm>
          <a:prstGeom prst="rect">
            <a:avLst/>
          </a:prstGeom>
        </p:spPr>
      </p:pic>
      <p:sp>
        <p:nvSpPr>
          <p:cNvPr id="42" name="Text 32"/>
          <p:cNvSpPr txBox="1"/>
          <p:nvPr/>
        </p:nvSpPr>
        <p:spPr>
          <a:xfrm>
            <a:off x="9181948" y="4910328"/>
            <a:ext cx="2331720" cy="310896"/>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Monaco Editor</a:t>
            </a:r>
            <a:endParaRPr lang="en-US" sz="1450" dirty="0"/>
          </a:p>
        </p:txBody>
      </p:sp>
      <p:sp>
        <p:nvSpPr>
          <p:cNvPr id="43" name="Text 33"/>
          <p:cNvSpPr txBox="1"/>
          <p:nvPr/>
        </p:nvSpPr>
        <p:spPr>
          <a:xfrm>
            <a:off x="9136228" y="5239512"/>
            <a:ext cx="2423160" cy="457200"/>
          </a:xfrm>
          <a:prstGeom prst="rect">
            <a:avLst/>
          </a:prstGeom>
          <a:noFill/>
          <a:ln/>
        </p:spPr>
        <p:txBody>
          <a:bodyPr wrap="square" lIns="0" tIns="0" rIns="0" bIns="0" rtlCol="0" anchor="ctr"/>
          <a:lstStyle/>
          <a:p>
            <a:pPr algn="ctr" indent="0" marL="0">
              <a:lnSpc>
                <a:spcPts val="1300"/>
              </a:lnSpc>
              <a:buNone/>
            </a:pPr>
            <a:r>
              <a:rPr lang="en-US" sz="1050" dirty="0">
                <a:solidFill>
                  <a:srgbClr val="9CA3AF"/>
                </a:solidFill>
                <a:latin typeface="Calibri" pitchFamily="34" charset="0"/>
                <a:ea typeface="Calibri" pitchFamily="34" charset="-122"/>
                <a:cs typeface="Calibri" pitchFamily="34" charset="-120"/>
              </a:rPr>
              <a:t>In-browser code editor</a:t>
            </a:r>
            <a:endParaRPr lang="en-US" sz="1050" dirty="0"/>
          </a:p>
        </p:txBody>
      </p:sp>
      <p:sp>
        <p:nvSpPr>
          <p:cNvPr id="44" name="Text 34"/>
          <p:cNvSpPr txBox="1"/>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4B5065"/>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00" b="1" spc="200" kern="0" dirty="0">
                <a:solidFill>
                  <a:srgbClr val="8B5CF6"/>
                </a:solidFill>
                <a:latin typeface="Calibri" pitchFamily="34" charset="0"/>
                <a:ea typeface="Calibri" pitchFamily="34" charset="-122"/>
                <a:cs typeface="Calibri" pitchFamily="34" charset="-120"/>
              </a:rPr>
              <a:t>SYSTEM DESIGN</a:t>
            </a:r>
            <a:endParaRPr lang="en-US" sz="12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algn="l" indent="0" marL="0">
              <a:buNone/>
            </a:pPr>
            <a:r>
              <a:rPr lang="en-US" sz="3000" b="1" dirty="0">
                <a:solidFill>
                  <a:srgbClr val="13131F"/>
                </a:solidFill>
                <a:latin typeface="Calibri" pitchFamily="34" charset="0"/>
                <a:ea typeface="Calibri" pitchFamily="34" charset="-122"/>
                <a:cs typeface="Calibri" pitchFamily="34" charset="-120"/>
              </a:rPr>
              <a:t>System architecture</a:t>
            </a:r>
            <a:endParaRPr lang="en-US" sz="3000" dirty="0"/>
          </a:p>
        </p:txBody>
      </p:sp>
      <p:pic>
        <p:nvPicPr>
          <p:cNvPr id="4" name="Image 0" descr="/tmp/aizen_pptx/assets/architecture.png">    </p:cNvPr>
          <p:cNvPicPr>
            <a:picLocks noChangeAspect="1"/>
          </p:cNvPicPr>
          <p:nvPr/>
        </p:nvPicPr>
        <p:blipFill>
          <a:blip r:embed="rId1"/>
          <a:stretch>
            <a:fillRect/>
          </a:stretch>
        </p:blipFill>
        <p:spPr>
          <a:xfrm>
            <a:off x="3729083" y="1463040"/>
            <a:ext cx="4733528" cy="4709160"/>
          </a:xfrm>
          <a:prstGeom prst="rect">
            <a:avLst/>
          </a:prstGeom>
        </p:spPr>
      </p:pic>
      <p:sp>
        <p:nvSpPr>
          <p:cNvPr id="5" name="Text 2"/>
          <p:cNvSpPr txBox="1"/>
          <p:nvPr/>
        </p:nvSpPr>
        <p:spPr>
          <a:xfrm>
            <a:off x="1463040" y="6263640"/>
            <a:ext cx="9235440" cy="365760"/>
          </a:xfrm>
          <a:prstGeom prst="rect">
            <a:avLst/>
          </a:prstGeom>
          <a:noFill/>
          <a:ln/>
        </p:spPr>
        <p:txBody>
          <a:bodyPr wrap="square" lIns="0" tIns="0" rIns="0" bIns="0" rtlCol="0" anchor="ctr"/>
          <a:lstStyle/>
          <a:p>
            <a:pPr algn="ctr" indent="0" marL="0">
              <a:buNone/>
            </a:pPr>
            <a:r>
              <a:rPr lang="en-US" sz="1150" i="1" dirty="0">
                <a:solidFill>
                  <a:srgbClr val="6B7280"/>
                </a:solidFill>
                <a:latin typeface="Calibri" pitchFamily="34" charset="0"/>
                <a:ea typeface="Calibri" pitchFamily="34" charset="-122"/>
                <a:cs typeface="Calibri" pitchFamily="34" charset="-120"/>
              </a:rPr>
              <a:t>One instruction flows from the React client through the Flask API to the Agent Runtime, which delegates to the Project Builder and the Groq LLM API, then streams files back as a live artifact.</a:t>
            </a:r>
            <a:endParaRPr lang="en-US" sz="1150" dirty="0"/>
          </a:p>
        </p:txBody>
      </p:sp>
      <p:sp>
        <p:nvSpPr>
          <p:cNvPr id="6" name="Text 3"/>
          <p:cNvSpPr txBox="1"/>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B9BBC6"/>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00" b="1" spc="200" kern="0" dirty="0">
                <a:solidFill>
                  <a:srgbClr val="8B5CF6"/>
                </a:solidFill>
                <a:latin typeface="Calibri" pitchFamily="34" charset="0"/>
                <a:ea typeface="Calibri" pitchFamily="34" charset="-122"/>
                <a:cs typeface="Calibri" pitchFamily="34" charset="-120"/>
              </a:rPr>
              <a:t>IMPLEMENTATION</a:t>
            </a:r>
            <a:endParaRPr lang="en-US" sz="12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algn="l" indent="0" marL="0">
              <a:buNone/>
            </a:pPr>
            <a:r>
              <a:rPr lang="en-US" sz="3000" b="1" dirty="0">
                <a:solidFill>
                  <a:srgbClr val="13131F"/>
                </a:solidFill>
                <a:latin typeface="Calibri" pitchFamily="34" charset="0"/>
                <a:ea typeface="Calibri" pitchFamily="34" charset="-122"/>
                <a:cs typeface="Calibri" pitchFamily="34" charset="-120"/>
              </a:rPr>
              <a:t>Twelve modules, one workspace</a:t>
            </a:r>
            <a:endParaRPr lang="en-US" sz="3000" dirty="0"/>
          </a:p>
        </p:txBody>
      </p:sp>
      <p:sp>
        <p:nvSpPr>
          <p:cNvPr id="4" name="Shape 2"/>
          <p:cNvSpPr/>
          <p:nvPr/>
        </p:nvSpPr>
        <p:spPr>
          <a:xfrm>
            <a:off x="476860" y="1600200"/>
            <a:ext cx="3611880" cy="1965960"/>
          </a:xfrm>
          <a:prstGeom prst="roundRect">
            <a:avLst>
              <a:gd name="adj" fmla="val 4186"/>
            </a:avLst>
          </a:prstGeom>
          <a:solidFill>
            <a:srgbClr val="F5F5FB"/>
          </a:solidFill>
          <a:ln/>
        </p:spPr>
      </p:sp>
      <p:sp>
        <p:nvSpPr>
          <p:cNvPr id="5" name="Shape 3"/>
          <p:cNvSpPr/>
          <p:nvPr/>
        </p:nvSpPr>
        <p:spPr>
          <a:xfrm>
            <a:off x="732892" y="1856232"/>
            <a:ext cx="530352" cy="530352"/>
          </a:xfrm>
          <a:prstGeom prst="ellipse">
            <a:avLst/>
          </a:prstGeom>
          <a:solidFill>
            <a:srgbClr val="8B5CF6"/>
          </a:solidFill>
          <a:ln/>
        </p:spPr>
      </p:sp>
      <p:pic>
        <p:nvPicPr>
          <p:cNvPr id="6" name="Image 0" descr="/tmp/aizen_pptx/assets/icons/usercheck_FFFFFF.png">    </p:cNvPr>
          <p:cNvPicPr>
            <a:picLocks noChangeAspect="1"/>
          </p:cNvPicPr>
          <p:nvPr/>
        </p:nvPicPr>
        <p:blipFill>
          <a:blip r:embed="rId1"/>
          <a:stretch>
            <a:fillRect/>
          </a:stretch>
        </p:blipFill>
        <p:spPr>
          <a:xfrm>
            <a:off x="860176" y="1983516"/>
            <a:ext cx="275783" cy="275783"/>
          </a:xfrm>
          <a:prstGeom prst="rect">
            <a:avLst/>
          </a:prstGeom>
        </p:spPr>
      </p:pic>
      <p:sp>
        <p:nvSpPr>
          <p:cNvPr id="7" name="Text 4"/>
          <p:cNvSpPr txBox="1"/>
          <p:nvPr/>
        </p:nvSpPr>
        <p:spPr>
          <a:xfrm>
            <a:off x="732892" y="2514600"/>
            <a:ext cx="3099816" cy="329184"/>
          </a:xfrm>
          <a:prstGeom prst="rect">
            <a:avLst/>
          </a:prstGeom>
          <a:noFill/>
          <a:ln/>
        </p:spPr>
        <p:txBody>
          <a:bodyPr wrap="square" lIns="0" tIns="0" rIns="0" bIns="0" rtlCol="0" anchor="ctr"/>
          <a:lstStyle/>
          <a:p>
            <a:pPr indent="0" marL="0">
              <a:buNone/>
            </a:pPr>
            <a:r>
              <a:rPr lang="en-US" sz="1400" b="1" dirty="0">
                <a:solidFill>
                  <a:srgbClr val="13131F"/>
                </a:solidFill>
                <a:latin typeface="Calibri" pitchFamily="34" charset="0"/>
                <a:ea typeface="Calibri" pitchFamily="34" charset="-122"/>
                <a:cs typeface="Calibri" pitchFamily="34" charset="-120"/>
              </a:rPr>
              <a:t>Authentication</a:t>
            </a:r>
            <a:endParaRPr lang="en-US" sz="1400" dirty="0"/>
          </a:p>
        </p:txBody>
      </p:sp>
      <p:sp>
        <p:nvSpPr>
          <p:cNvPr id="8" name="Text 5"/>
          <p:cNvSpPr txBox="1"/>
          <p:nvPr/>
        </p:nvSpPr>
        <p:spPr>
          <a:xfrm>
            <a:off x="732892" y="2834640"/>
            <a:ext cx="3099816" cy="640080"/>
          </a:xfrm>
          <a:prstGeom prst="rect">
            <a:avLst/>
          </a:prstGeom>
          <a:noFill/>
          <a:ln/>
        </p:spPr>
        <p:txBody>
          <a:bodyPr wrap="square" lIns="0" tIns="0" rIns="0" bIns="0" rtlCol="0" anchor="ctr"/>
          <a:lstStyle/>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Sign-up/login, JWT issuance, bcrypt hashing, per-user history.</a:t>
            </a:r>
            <a:endParaRPr lang="en-US" sz="1100" dirty="0"/>
          </a:p>
        </p:txBody>
      </p:sp>
      <p:sp>
        <p:nvSpPr>
          <p:cNvPr id="9" name="Shape 6"/>
          <p:cNvSpPr/>
          <p:nvPr/>
        </p:nvSpPr>
        <p:spPr>
          <a:xfrm>
            <a:off x="4289908" y="1600200"/>
            <a:ext cx="3611880" cy="1965960"/>
          </a:xfrm>
          <a:prstGeom prst="roundRect">
            <a:avLst>
              <a:gd name="adj" fmla="val 4186"/>
            </a:avLst>
          </a:prstGeom>
          <a:solidFill>
            <a:srgbClr val="F5F5FB"/>
          </a:solidFill>
          <a:ln/>
        </p:spPr>
      </p:sp>
      <p:sp>
        <p:nvSpPr>
          <p:cNvPr id="10" name="Shape 7"/>
          <p:cNvSpPr/>
          <p:nvPr/>
        </p:nvSpPr>
        <p:spPr>
          <a:xfrm>
            <a:off x="4545940" y="1856232"/>
            <a:ext cx="530352" cy="530352"/>
          </a:xfrm>
          <a:prstGeom prst="ellipse">
            <a:avLst/>
          </a:prstGeom>
          <a:solidFill>
            <a:srgbClr val="22D3EE"/>
          </a:solidFill>
          <a:ln/>
        </p:spPr>
      </p:sp>
      <p:pic>
        <p:nvPicPr>
          <p:cNvPr id="11" name="Image 1" descr="/tmp/aizen_pptx/assets/icons/shuffle_FFFFFF.png">    </p:cNvPr>
          <p:cNvPicPr>
            <a:picLocks noChangeAspect="1"/>
          </p:cNvPicPr>
          <p:nvPr/>
        </p:nvPicPr>
        <p:blipFill>
          <a:blip r:embed="rId2"/>
          <a:stretch>
            <a:fillRect/>
          </a:stretch>
        </p:blipFill>
        <p:spPr>
          <a:xfrm>
            <a:off x="4673224" y="1983516"/>
            <a:ext cx="275783" cy="275783"/>
          </a:xfrm>
          <a:prstGeom prst="rect">
            <a:avLst/>
          </a:prstGeom>
        </p:spPr>
      </p:pic>
      <p:sp>
        <p:nvSpPr>
          <p:cNvPr id="12" name="Text 8"/>
          <p:cNvSpPr txBox="1"/>
          <p:nvPr/>
        </p:nvSpPr>
        <p:spPr>
          <a:xfrm>
            <a:off x="4545940" y="2514600"/>
            <a:ext cx="3099816" cy="329184"/>
          </a:xfrm>
          <a:prstGeom prst="rect">
            <a:avLst/>
          </a:prstGeom>
          <a:noFill/>
          <a:ln/>
        </p:spPr>
        <p:txBody>
          <a:bodyPr wrap="square" lIns="0" tIns="0" rIns="0" bIns="0" rtlCol="0" anchor="ctr"/>
          <a:lstStyle/>
          <a:p>
            <a:pPr indent="0" marL="0">
              <a:buNone/>
            </a:pPr>
            <a:r>
              <a:rPr lang="en-US" sz="1400" b="1" dirty="0">
                <a:solidFill>
                  <a:srgbClr val="13131F"/>
                </a:solidFill>
                <a:latin typeface="Calibri" pitchFamily="34" charset="0"/>
                <a:ea typeface="Calibri" pitchFamily="34" charset="-122"/>
                <a:cs typeface="Calibri" pitchFamily="34" charset="-120"/>
              </a:rPr>
              <a:t>Intent Classification</a:t>
            </a:r>
            <a:endParaRPr lang="en-US" sz="1400" dirty="0"/>
          </a:p>
        </p:txBody>
      </p:sp>
      <p:sp>
        <p:nvSpPr>
          <p:cNvPr id="13" name="Text 9"/>
          <p:cNvSpPr txBox="1"/>
          <p:nvPr/>
        </p:nvSpPr>
        <p:spPr>
          <a:xfrm>
            <a:off x="4545940" y="2834640"/>
            <a:ext cx="3099816" cy="640080"/>
          </a:xfrm>
          <a:prstGeom prst="rect">
            <a:avLst/>
          </a:prstGeom>
          <a:noFill/>
          <a:ln/>
        </p:spPr>
        <p:txBody>
          <a:bodyPr wrap="square" lIns="0" tIns="0" rIns="0" bIns="0" rtlCol="0" anchor="ctr"/>
          <a:lstStyle/>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Routes each instruction to chat, create, or refine.</a:t>
            </a:r>
            <a:endParaRPr lang="en-US" sz="1100" dirty="0"/>
          </a:p>
        </p:txBody>
      </p:sp>
      <p:sp>
        <p:nvSpPr>
          <p:cNvPr id="14" name="Shape 10"/>
          <p:cNvSpPr/>
          <p:nvPr/>
        </p:nvSpPr>
        <p:spPr>
          <a:xfrm>
            <a:off x="8102956" y="1600200"/>
            <a:ext cx="3611880" cy="1965960"/>
          </a:xfrm>
          <a:prstGeom prst="roundRect">
            <a:avLst>
              <a:gd name="adj" fmla="val 4186"/>
            </a:avLst>
          </a:prstGeom>
          <a:solidFill>
            <a:srgbClr val="F5F5FB"/>
          </a:solidFill>
          <a:ln/>
        </p:spPr>
      </p:sp>
      <p:sp>
        <p:nvSpPr>
          <p:cNvPr id="15" name="Shape 11"/>
          <p:cNvSpPr/>
          <p:nvPr/>
        </p:nvSpPr>
        <p:spPr>
          <a:xfrm>
            <a:off x="8358988" y="1856232"/>
            <a:ext cx="530352" cy="530352"/>
          </a:xfrm>
          <a:prstGeom prst="ellipse">
            <a:avLst/>
          </a:prstGeom>
          <a:solidFill>
            <a:srgbClr val="FBBF24"/>
          </a:solidFill>
          <a:ln/>
        </p:spPr>
      </p:sp>
      <p:pic>
        <p:nvPicPr>
          <p:cNvPr id="16" name="Image 2" descr="/tmp/aizen_pptx/assets/icons/package_FFFFFF.png">    </p:cNvPr>
          <p:cNvPicPr>
            <a:picLocks noChangeAspect="1"/>
          </p:cNvPicPr>
          <p:nvPr/>
        </p:nvPicPr>
        <p:blipFill>
          <a:blip r:embed="rId3"/>
          <a:stretch>
            <a:fillRect/>
          </a:stretch>
        </p:blipFill>
        <p:spPr>
          <a:xfrm>
            <a:off x="8486272" y="1983516"/>
            <a:ext cx="275783" cy="275783"/>
          </a:xfrm>
          <a:prstGeom prst="rect">
            <a:avLst/>
          </a:prstGeom>
        </p:spPr>
      </p:pic>
      <p:sp>
        <p:nvSpPr>
          <p:cNvPr id="17" name="Text 12"/>
          <p:cNvSpPr txBox="1"/>
          <p:nvPr/>
        </p:nvSpPr>
        <p:spPr>
          <a:xfrm>
            <a:off x="8358988" y="2514600"/>
            <a:ext cx="3099816" cy="329184"/>
          </a:xfrm>
          <a:prstGeom prst="rect">
            <a:avLst/>
          </a:prstGeom>
          <a:noFill/>
          <a:ln/>
        </p:spPr>
        <p:txBody>
          <a:bodyPr wrap="square" lIns="0" tIns="0" rIns="0" bIns="0" rtlCol="0" anchor="ctr"/>
          <a:lstStyle/>
          <a:p>
            <a:pPr indent="0" marL="0">
              <a:buNone/>
            </a:pPr>
            <a:r>
              <a:rPr lang="en-US" sz="1400" b="1" dirty="0">
                <a:solidFill>
                  <a:srgbClr val="13131F"/>
                </a:solidFill>
                <a:latin typeface="Calibri" pitchFamily="34" charset="0"/>
                <a:ea typeface="Calibri" pitchFamily="34" charset="-122"/>
                <a:cs typeface="Calibri" pitchFamily="34" charset="-120"/>
              </a:rPr>
              <a:t>Project Builder</a:t>
            </a:r>
            <a:endParaRPr lang="en-US" sz="1400" dirty="0"/>
          </a:p>
        </p:txBody>
      </p:sp>
      <p:sp>
        <p:nvSpPr>
          <p:cNvPr id="18" name="Text 13"/>
          <p:cNvSpPr txBox="1"/>
          <p:nvPr/>
        </p:nvSpPr>
        <p:spPr>
          <a:xfrm>
            <a:off x="8358988" y="2834640"/>
            <a:ext cx="3099816" cy="640080"/>
          </a:xfrm>
          <a:prstGeom prst="rect">
            <a:avLst/>
          </a:prstGeom>
          <a:noFill/>
          <a:ln/>
        </p:spPr>
        <p:txBody>
          <a:bodyPr wrap="square" lIns="0" tIns="0" rIns="0" bIns="0" rtlCol="0" anchor="ctr"/>
          <a:lstStyle/>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Model-backed generation across ten blueprint stacks.</a:t>
            </a:r>
            <a:endParaRPr lang="en-US" sz="1100" dirty="0"/>
          </a:p>
        </p:txBody>
      </p:sp>
      <p:sp>
        <p:nvSpPr>
          <p:cNvPr id="19" name="Shape 14"/>
          <p:cNvSpPr/>
          <p:nvPr/>
        </p:nvSpPr>
        <p:spPr>
          <a:xfrm>
            <a:off x="476860" y="3794760"/>
            <a:ext cx="3611880" cy="1965960"/>
          </a:xfrm>
          <a:prstGeom prst="roundRect">
            <a:avLst>
              <a:gd name="adj" fmla="val 4186"/>
            </a:avLst>
          </a:prstGeom>
          <a:solidFill>
            <a:srgbClr val="F5F5FB"/>
          </a:solidFill>
          <a:ln/>
        </p:spPr>
      </p:sp>
      <p:sp>
        <p:nvSpPr>
          <p:cNvPr id="20" name="Shape 15"/>
          <p:cNvSpPr/>
          <p:nvPr/>
        </p:nvSpPr>
        <p:spPr>
          <a:xfrm>
            <a:off x="732892" y="4050792"/>
            <a:ext cx="530352" cy="530352"/>
          </a:xfrm>
          <a:prstGeom prst="ellipse">
            <a:avLst/>
          </a:prstGeom>
          <a:solidFill>
            <a:srgbClr val="8B5CF6"/>
          </a:solidFill>
          <a:ln/>
        </p:spPr>
      </p:sp>
      <p:pic>
        <p:nvPicPr>
          <p:cNvPr id="21" name="Image 3" descr="/tmp/aizen_pptx/assets/icons/repeat_FFFFFF.png">    </p:cNvPr>
          <p:cNvPicPr>
            <a:picLocks noChangeAspect="1"/>
          </p:cNvPicPr>
          <p:nvPr/>
        </p:nvPicPr>
        <p:blipFill>
          <a:blip r:embed="rId4"/>
          <a:stretch>
            <a:fillRect/>
          </a:stretch>
        </p:blipFill>
        <p:spPr>
          <a:xfrm>
            <a:off x="860176" y="4178076"/>
            <a:ext cx="275783" cy="275783"/>
          </a:xfrm>
          <a:prstGeom prst="rect">
            <a:avLst/>
          </a:prstGeom>
        </p:spPr>
      </p:pic>
      <p:sp>
        <p:nvSpPr>
          <p:cNvPr id="22" name="Text 16"/>
          <p:cNvSpPr txBox="1"/>
          <p:nvPr/>
        </p:nvSpPr>
        <p:spPr>
          <a:xfrm>
            <a:off x="732892" y="4709160"/>
            <a:ext cx="3099816" cy="329184"/>
          </a:xfrm>
          <a:prstGeom prst="rect">
            <a:avLst/>
          </a:prstGeom>
          <a:noFill/>
          <a:ln/>
        </p:spPr>
        <p:txBody>
          <a:bodyPr wrap="square" lIns="0" tIns="0" rIns="0" bIns="0" rtlCol="0" anchor="ctr"/>
          <a:lstStyle/>
          <a:p>
            <a:pPr indent="0" marL="0">
              <a:buNone/>
            </a:pPr>
            <a:r>
              <a:rPr lang="en-US" sz="1400" b="1" dirty="0">
                <a:solidFill>
                  <a:srgbClr val="13131F"/>
                </a:solidFill>
                <a:latin typeface="Calibri" pitchFamily="34" charset="0"/>
                <a:ea typeface="Calibri" pitchFamily="34" charset="-122"/>
                <a:cs typeface="Calibri" pitchFamily="34" charset="-120"/>
              </a:rPr>
              <a:t>Agent Tool-Execution Loop</a:t>
            </a:r>
            <a:endParaRPr lang="en-US" sz="1400" dirty="0"/>
          </a:p>
        </p:txBody>
      </p:sp>
      <p:sp>
        <p:nvSpPr>
          <p:cNvPr id="23" name="Text 17"/>
          <p:cNvSpPr txBox="1"/>
          <p:nvPr/>
        </p:nvSpPr>
        <p:spPr>
          <a:xfrm>
            <a:off x="732892" y="5029200"/>
            <a:ext cx="3099816" cy="640080"/>
          </a:xfrm>
          <a:prstGeom prst="rect">
            <a:avLst/>
          </a:prstGeom>
          <a:noFill/>
          <a:ln/>
        </p:spPr>
        <p:txBody>
          <a:bodyPr wrap="square" lIns="0" tIns="0" rIns="0" bIns="0" rtlCol="0" anchor="ctr"/>
          <a:lstStyle/>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Bounded list / read / write / run loop that polishes output.</a:t>
            </a:r>
            <a:endParaRPr lang="en-US" sz="1100" dirty="0"/>
          </a:p>
        </p:txBody>
      </p:sp>
      <p:sp>
        <p:nvSpPr>
          <p:cNvPr id="24" name="Shape 18"/>
          <p:cNvSpPr/>
          <p:nvPr/>
        </p:nvSpPr>
        <p:spPr>
          <a:xfrm>
            <a:off x="4289908" y="3794760"/>
            <a:ext cx="3611880" cy="1965960"/>
          </a:xfrm>
          <a:prstGeom prst="roundRect">
            <a:avLst>
              <a:gd name="adj" fmla="val 4186"/>
            </a:avLst>
          </a:prstGeom>
          <a:solidFill>
            <a:srgbClr val="F5F5FB"/>
          </a:solidFill>
          <a:ln/>
        </p:spPr>
      </p:sp>
      <p:sp>
        <p:nvSpPr>
          <p:cNvPr id="25" name="Shape 19"/>
          <p:cNvSpPr/>
          <p:nvPr/>
        </p:nvSpPr>
        <p:spPr>
          <a:xfrm>
            <a:off x="4545940" y="4050792"/>
            <a:ext cx="530352" cy="530352"/>
          </a:xfrm>
          <a:prstGeom prst="ellipse">
            <a:avLst/>
          </a:prstGeom>
          <a:solidFill>
            <a:srgbClr val="22D3EE"/>
          </a:solidFill>
          <a:ln/>
        </p:spPr>
      </p:sp>
      <p:pic>
        <p:nvPicPr>
          <p:cNvPr id="26" name="Image 4" descr="/tmp/aizen_pptx/assets/icons/monitor_FFFFFF.png">    </p:cNvPr>
          <p:cNvPicPr>
            <a:picLocks noChangeAspect="1"/>
          </p:cNvPicPr>
          <p:nvPr/>
        </p:nvPicPr>
        <p:blipFill>
          <a:blip r:embed="rId5"/>
          <a:stretch>
            <a:fillRect/>
          </a:stretch>
        </p:blipFill>
        <p:spPr>
          <a:xfrm>
            <a:off x="4673224" y="4178076"/>
            <a:ext cx="275783" cy="275783"/>
          </a:xfrm>
          <a:prstGeom prst="rect">
            <a:avLst/>
          </a:prstGeom>
        </p:spPr>
      </p:pic>
      <p:sp>
        <p:nvSpPr>
          <p:cNvPr id="27" name="Text 20"/>
          <p:cNvSpPr txBox="1"/>
          <p:nvPr/>
        </p:nvSpPr>
        <p:spPr>
          <a:xfrm>
            <a:off x="4545940" y="4709160"/>
            <a:ext cx="3099816" cy="329184"/>
          </a:xfrm>
          <a:prstGeom prst="rect">
            <a:avLst/>
          </a:prstGeom>
          <a:noFill/>
          <a:ln/>
        </p:spPr>
        <p:txBody>
          <a:bodyPr wrap="square" lIns="0" tIns="0" rIns="0" bIns="0" rtlCol="0" anchor="ctr"/>
          <a:lstStyle/>
          <a:p>
            <a:pPr indent="0" marL="0">
              <a:buNone/>
            </a:pPr>
            <a:r>
              <a:rPr lang="en-US" sz="1400" b="1" dirty="0">
                <a:solidFill>
                  <a:srgbClr val="13131F"/>
                </a:solidFill>
                <a:latin typeface="Calibri" pitchFamily="34" charset="0"/>
                <a:ea typeface="Calibri" pitchFamily="34" charset="-122"/>
                <a:cs typeface="Calibri" pitchFamily="34" charset="-120"/>
              </a:rPr>
              <a:t>Live Preview &amp; Code Editor</a:t>
            </a:r>
            <a:endParaRPr lang="en-US" sz="1400" dirty="0"/>
          </a:p>
        </p:txBody>
      </p:sp>
      <p:sp>
        <p:nvSpPr>
          <p:cNvPr id="28" name="Text 21"/>
          <p:cNvSpPr txBox="1"/>
          <p:nvPr/>
        </p:nvSpPr>
        <p:spPr>
          <a:xfrm>
            <a:off x="4545940" y="5029200"/>
            <a:ext cx="3099816" cy="640080"/>
          </a:xfrm>
          <a:prstGeom prst="rect">
            <a:avLst/>
          </a:prstGeom>
          <a:noFill/>
          <a:ln/>
        </p:spPr>
        <p:txBody>
          <a:bodyPr wrap="square" lIns="0" tIns="0" rIns="0" bIns="0" rtlCol="0" anchor="ctr"/>
          <a:lstStyle/>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Monaco-based editor with save support and instant preview.</a:t>
            </a:r>
            <a:endParaRPr lang="en-US" sz="1100" dirty="0"/>
          </a:p>
        </p:txBody>
      </p:sp>
      <p:sp>
        <p:nvSpPr>
          <p:cNvPr id="29" name="Shape 22"/>
          <p:cNvSpPr/>
          <p:nvPr/>
        </p:nvSpPr>
        <p:spPr>
          <a:xfrm>
            <a:off x="8102956" y="3794760"/>
            <a:ext cx="3611880" cy="1965960"/>
          </a:xfrm>
          <a:prstGeom prst="roundRect">
            <a:avLst>
              <a:gd name="adj" fmla="val 4186"/>
            </a:avLst>
          </a:prstGeom>
          <a:solidFill>
            <a:srgbClr val="F1EBFE"/>
          </a:solidFill>
          <a:ln/>
        </p:spPr>
      </p:sp>
      <p:sp>
        <p:nvSpPr>
          <p:cNvPr id="30" name="Shape 23"/>
          <p:cNvSpPr/>
          <p:nvPr/>
        </p:nvSpPr>
        <p:spPr>
          <a:xfrm>
            <a:off x="8358988" y="4050792"/>
            <a:ext cx="530352" cy="530352"/>
          </a:xfrm>
          <a:prstGeom prst="ellipse">
            <a:avLst/>
          </a:prstGeom>
          <a:solidFill>
            <a:srgbClr val="6D28D9"/>
          </a:solidFill>
          <a:ln/>
        </p:spPr>
      </p:sp>
      <p:pic>
        <p:nvPicPr>
          <p:cNvPr id="31" name="Image 5" descr="/tmp/aizen_pptx/assets/icons/database_FFFFFF.png">    </p:cNvPr>
          <p:cNvPicPr>
            <a:picLocks noChangeAspect="1"/>
          </p:cNvPicPr>
          <p:nvPr/>
        </p:nvPicPr>
        <p:blipFill>
          <a:blip r:embed="rId6"/>
          <a:stretch>
            <a:fillRect/>
          </a:stretch>
        </p:blipFill>
        <p:spPr>
          <a:xfrm>
            <a:off x="8486272" y="4178076"/>
            <a:ext cx="275783" cy="275783"/>
          </a:xfrm>
          <a:prstGeom prst="rect">
            <a:avLst/>
          </a:prstGeom>
        </p:spPr>
      </p:pic>
      <p:sp>
        <p:nvSpPr>
          <p:cNvPr id="32" name="Text 24"/>
          <p:cNvSpPr txBox="1"/>
          <p:nvPr/>
        </p:nvSpPr>
        <p:spPr>
          <a:xfrm>
            <a:off x="10937596" y="4014216"/>
            <a:ext cx="594360" cy="256032"/>
          </a:xfrm>
          <a:prstGeom prst="rect">
            <a:avLst/>
          </a:prstGeom>
          <a:solidFill>
            <a:srgbClr val="6D28D9"/>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NEW</a:t>
            </a:r>
            <a:endParaRPr lang="en-US" sz="900" dirty="0"/>
          </a:p>
        </p:txBody>
      </p:sp>
      <p:sp>
        <p:nvSpPr>
          <p:cNvPr id="33" name="Text 25"/>
          <p:cNvSpPr txBox="1"/>
          <p:nvPr/>
        </p:nvSpPr>
        <p:spPr>
          <a:xfrm>
            <a:off x="8358988" y="4709160"/>
            <a:ext cx="3099816" cy="329184"/>
          </a:xfrm>
          <a:prstGeom prst="rect">
            <a:avLst/>
          </a:prstGeom>
          <a:noFill/>
          <a:ln/>
        </p:spPr>
        <p:txBody>
          <a:bodyPr wrap="square" lIns="0" tIns="0" rIns="0" bIns="0" rtlCol="0" anchor="ctr"/>
          <a:lstStyle/>
          <a:p>
            <a:pPr indent="0" marL="0">
              <a:buNone/>
            </a:pPr>
            <a:r>
              <a:rPr lang="en-US" sz="1400" b="1" dirty="0">
                <a:solidFill>
                  <a:srgbClr val="13131F"/>
                </a:solidFill>
                <a:latin typeface="Calibri" pitchFamily="34" charset="0"/>
                <a:ea typeface="Calibri" pitchFamily="34" charset="-122"/>
                <a:cs typeface="Calibri" pitchFamily="34" charset="-120"/>
              </a:rPr>
              <a:t>SQL Assistant</a:t>
            </a:r>
            <a:endParaRPr lang="en-US" sz="1400" dirty="0"/>
          </a:p>
        </p:txBody>
      </p:sp>
      <p:sp>
        <p:nvSpPr>
          <p:cNvPr id="34" name="Text 26"/>
          <p:cNvSpPr txBox="1"/>
          <p:nvPr/>
        </p:nvSpPr>
        <p:spPr>
          <a:xfrm>
            <a:off x="8358988" y="5029200"/>
            <a:ext cx="3099816" cy="640080"/>
          </a:xfrm>
          <a:prstGeom prst="rect">
            <a:avLst/>
          </a:prstGeom>
          <a:noFill/>
          <a:ln/>
        </p:spPr>
        <p:txBody>
          <a:bodyPr wrap="square" lIns="0" tIns="0" rIns="0" bIns="0" rtlCol="0" anchor="ctr"/>
          <a:lstStyle/>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English question → runnable SQL query + explanation.</a:t>
            </a:r>
            <a:endParaRPr lang="en-US" sz="1100" dirty="0"/>
          </a:p>
        </p:txBody>
      </p:sp>
      <p:sp>
        <p:nvSpPr>
          <p:cNvPr id="35" name="Text 27"/>
          <p:cNvSpPr txBox="1"/>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B9BBC6"/>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C"/>
        </a:solidFill>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8B5CF6">
              <a:alpha val="11000"/>
            </a:srgbClr>
          </a:solidFill>
          <a:ln/>
        </p:spPr>
      </p:sp>
      <p:sp>
        <p:nvSpPr>
          <p:cNvPr id="3" name="Text 1"/>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00" b="1" spc="200" kern="0" dirty="0">
                <a:solidFill>
                  <a:srgbClr val="FBBF24"/>
                </a:solidFill>
                <a:latin typeface="Calibri" pitchFamily="34" charset="0"/>
                <a:ea typeface="Calibri" pitchFamily="34" charset="-122"/>
                <a:cs typeface="Calibri" pitchFamily="34" charset="-120"/>
              </a:rPr>
              <a:t>NEW THIS MAJOR PROJECT</a:t>
            </a:r>
            <a:endParaRPr lang="en-US" sz="1200" dirty="0"/>
          </a:p>
        </p:txBody>
      </p:sp>
      <p:sp>
        <p:nvSpPr>
          <p:cNvPr id="4" name="Text 2"/>
          <p:cNvSpPr txBox="1"/>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SQL Assistant</a:t>
            </a:r>
            <a:endParaRPr lang="en-US" sz="3400" dirty="0"/>
          </a:p>
        </p:txBody>
      </p:sp>
      <p:sp>
        <p:nvSpPr>
          <p:cNvPr id="5" name="Text 3"/>
          <p:cNvSpPr txBox="1"/>
          <p:nvPr/>
        </p:nvSpPr>
        <p:spPr>
          <a:xfrm>
            <a:off x="640080" y="1417320"/>
            <a:ext cx="10881360" cy="594360"/>
          </a:xfrm>
          <a:prstGeom prst="rect">
            <a:avLst/>
          </a:prstGeom>
          <a:noFill/>
          <a:ln/>
        </p:spPr>
        <p:txBody>
          <a:bodyPr wrap="square" lIns="0" tIns="0" rIns="0" bIns="0" rtlCol="0" anchor="ctr"/>
          <a:lstStyle/>
          <a:p>
            <a:pPr indent="0" marL="0">
              <a:lnSpc>
                <a:spcPts val="2100"/>
              </a:lnSpc>
              <a:buNone/>
            </a:pPr>
            <a:r>
              <a:rPr lang="en-US" sz="1500" dirty="0">
                <a:solidFill>
                  <a:srgbClr val="C7CAD9"/>
                </a:solidFill>
                <a:latin typeface="Calibri" pitchFamily="34" charset="0"/>
                <a:ea typeface="Calibri" pitchFamily="34" charset="-122"/>
                <a:cs typeface="Calibri" pitchFamily="34" charset="-120"/>
              </a:rPr>
              <a:t>A dedicated panel that turns a plain-English question — with an optional table schema and target dialect — into a ready-to-run SQL query and a plain-English explanation.</a:t>
            </a:r>
            <a:endParaRPr lang="en-US" sz="1500" dirty="0"/>
          </a:p>
        </p:txBody>
      </p:sp>
      <p:sp>
        <p:nvSpPr>
          <p:cNvPr id="6" name="Shape 4"/>
          <p:cNvSpPr/>
          <p:nvPr/>
        </p:nvSpPr>
        <p:spPr>
          <a:xfrm>
            <a:off x="609448" y="2377440"/>
            <a:ext cx="3383280" cy="1965960"/>
          </a:xfrm>
          <a:prstGeom prst="roundRect">
            <a:avLst>
              <a:gd name="adj" fmla="val 4186"/>
            </a:avLst>
          </a:prstGeom>
          <a:solidFill>
            <a:srgbClr val="161B2E"/>
          </a:solidFill>
          <a:ln/>
        </p:spPr>
      </p:sp>
      <p:sp>
        <p:nvSpPr>
          <p:cNvPr id="7" name="Shape 5"/>
          <p:cNvSpPr/>
          <p:nvPr/>
        </p:nvSpPr>
        <p:spPr>
          <a:xfrm>
            <a:off x="1999336" y="2651760"/>
            <a:ext cx="603504" cy="603504"/>
          </a:xfrm>
          <a:prstGeom prst="ellipse">
            <a:avLst/>
          </a:prstGeom>
          <a:solidFill>
            <a:srgbClr val="8B5CF6"/>
          </a:solidFill>
          <a:ln/>
        </p:spPr>
      </p:sp>
      <p:pic>
        <p:nvPicPr>
          <p:cNvPr id="8" name="Image 0" descr="/tmp/aizen_pptx/assets/icons/message_FFFFFF.png">    </p:cNvPr>
          <p:cNvPicPr>
            <a:picLocks noChangeAspect="1"/>
          </p:cNvPicPr>
          <p:nvPr/>
        </p:nvPicPr>
        <p:blipFill>
          <a:blip r:embed="rId1"/>
          <a:stretch>
            <a:fillRect/>
          </a:stretch>
        </p:blipFill>
        <p:spPr>
          <a:xfrm>
            <a:off x="2144177" y="2796601"/>
            <a:ext cx="313822" cy="313822"/>
          </a:xfrm>
          <a:prstGeom prst="rect">
            <a:avLst/>
          </a:prstGeom>
        </p:spPr>
      </p:pic>
      <p:sp>
        <p:nvSpPr>
          <p:cNvPr id="9" name="Text 6"/>
          <p:cNvSpPr txBox="1"/>
          <p:nvPr/>
        </p:nvSpPr>
        <p:spPr>
          <a:xfrm>
            <a:off x="792328" y="3401568"/>
            <a:ext cx="301752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Ask in plain English</a:t>
            </a:r>
            <a:endParaRPr lang="en-US" sz="1350" dirty="0"/>
          </a:p>
        </p:txBody>
      </p:sp>
      <p:sp>
        <p:nvSpPr>
          <p:cNvPr id="10" name="Text 7"/>
          <p:cNvSpPr txBox="1"/>
          <p:nvPr/>
        </p:nvSpPr>
        <p:spPr>
          <a:xfrm>
            <a:off x="792328" y="3749040"/>
            <a:ext cx="3017520" cy="502920"/>
          </a:xfrm>
          <a:prstGeom prst="rect">
            <a:avLst/>
          </a:prstGeom>
          <a:noFill/>
          <a:ln/>
        </p:spPr>
        <p:txBody>
          <a:bodyPr wrap="square" lIns="0" tIns="0" rIns="0" bIns="0" rtlCol="0" anchor="ctr"/>
          <a:lstStyle/>
          <a:p>
            <a:pPr algn="ctr" indent="0" marL="0">
              <a:lnSpc>
                <a:spcPts val="1300"/>
              </a:lnSpc>
              <a:buNone/>
            </a:pPr>
            <a:r>
              <a:rPr lang="en-US" sz="1050" dirty="0">
                <a:solidFill>
                  <a:srgbClr val="9CA3AF"/>
                </a:solidFill>
                <a:latin typeface="Calibri" pitchFamily="34" charset="0"/>
                <a:ea typeface="Calibri" pitchFamily="34" charset="-122"/>
                <a:cs typeface="Calibri" pitchFamily="34" charset="-120"/>
              </a:rPr>
              <a:t>"Show total orders per customer in the last 30 days"</a:t>
            </a:r>
            <a:endParaRPr lang="en-US" sz="1050" dirty="0"/>
          </a:p>
        </p:txBody>
      </p:sp>
      <p:sp>
        <p:nvSpPr>
          <p:cNvPr id="11" name="Text 8"/>
          <p:cNvSpPr txBox="1"/>
          <p:nvPr/>
        </p:nvSpPr>
        <p:spPr>
          <a:xfrm>
            <a:off x="4011016" y="3063240"/>
            <a:ext cx="374904" cy="548640"/>
          </a:xfrm>
          <a:prstGeom prst="rect">
            <a:avLst/>
          </a:prstGeom>
          <a:noFill/>
          <a:ln/>
        </p:spPr>
        <p:txBody>
          <a:bodyPr wrap="square" lIns="0" tIns="0" rIns="0" bIns="0" rtlCol="0" anchor="ctr"/>
          <a:lstStyle/>
          <a:p>
            <a:pPr algn="ctr" indent="0" marL="0">
              <a:buNone/>
            </a:pPr>
            <a:r>
              <a:rPr lang="en-US" sz="2200" dirty="0">
                <a:solidFill>
                  <a:srgbClr val="6B7280"/>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4404208" y="2377440"/>
            <a:ext cx="3383280" cy="1965960"/>
          </a:xfrm>
          <a:prstGeom prst="roundRect">
            <a:avLst>
              <a:gd name="adj" fmla="val 4186"/>
            </a:avLst>
          </a:prstGeom>
          <a:solidFill>
            <a:srgbClr val="161B2E"/>
          </a:solidFill>
          <a:ln/>
        </p:spPr>
      </p:sp>
      <p:sp>
        <p:nvSpPr>
          <p:cNvPr id="13" name="Shape 10"/>
          <p:cNvSpPr/>
          <p:nvPr/>
        </p:nvSpPr>
        <p:spPr>
          <a:xfrm>
            <a:off x="5794096" y="2651760"/>
            <a:ext cx="603504" cy="603504"/>
          </a:xfrm>
          <a:prstGeom prst="ellipse">
            <a:avLst/>
          </a:prstGeom>
          <a:solidFill>
            <a:srgbClr val="FBBF24"/>
          </a:solidFill>
          <a:ln/>
        </p:spPr>
      </p:sp>
      <p:pic>
        <p:nvPicPr>
          <p:cNvPr id="14" name="Image 1" descr="/tmp/aizen_pptx/assets/icons/cpu_13131F.png">    </p:cNvPr>
          <p:cNvPicPr>
            <a:picLocks noChangeAspect="1"/>
          </p:cNvPicPr>
          <p:nvPr/>
        </p:nvPicPr>
        <p:blipFill>
          <a:blip r:embed="rId2"/>
          <a:stretch>
            <a:fillRect/>
          </a:stretch>
        </p:blipFill>
        <p:spPr>
          <a:xfrm>
            <a:off x="5938937" y="2796601"/>
            <a:ext cx="313822" cy="313822"/>
          </a:xfrm>
          <a:prstGeom prst="rect">
            <a:avLst/>
          </a:prstGeom>
        </p:spPr>
      </p:pic>
      <p:sp>
        <p:nvSpPr>
          <p:cNvPr id="15" name="Text 11"/>
          <p:cNvSpPr txBox="1"/>
          <p:nvPr/>
        </p:nvSpPr>
        <p:spPr>
          <a:xfrm>
            <a:off x="4587088" y="3401568"/>
            <a:ext cx="301752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Groq model, narrowed by prompt</a:t>
            </a:r>
            <a:endParaRPr lang="en-US" sz="1350" dirty="0"/>
          </a:p>
        </p:txBody>
      </p:sp>
      <p:sp>
        <p:nvSpPr>
          <p:cNvPr id="16" name="Text 12"/>
          <p:cNvSpPr txBox="1"/>
          <p:nvPr/>
        </p:nvSpPr>
        <p:spPr>
          <a:xfrm>
            <a:off x="4587088" y="3749040"/>
            <a:ext cx="3017520" cy="502920"/>
          </a:xfrm>
          <a:prstGeom prst="rect">
            <a:avLst/>
          </a:prstGeom>
          <a:noFill/>
          <a:ln/>
        </p:spPr>
        <p:txBody>
          <a:bodyPr wrap="square" lIns="0" tIns="0" rIns="0" bIns="0" rtlCol="0" anchor="ctr"/>
          <a:lstStyle/>
          <a:p>
            <a:pPr algn="ctr" indent="0" marL="0">
              <a:lnSpc>
                <a:spcPts val="1300"/>
              </a:lnSpc>
              <a:buNone/>
            </a:pPr>
            <a:r>
              <a:rPr lang="en-US" sz="1050" dirty="0">
                <a:solidFill>
                  <a:srgbClr val="9CA3AF"/>
                </a:solidFill>
                <a:latin typeface="Calibri" pitchFamily="34" charset="0"/>
                <a:ea typeface="Calibri" pitchFamily="34" charset="-122"/>
                <a:cs typeface="Calibri" pitchFamily="34" charset="-120"/>
              </a:rPr>
              <a:t>One dedicated system prompt + a strict JSON output contract</a:t>
            </a:r>
            <a:endParaRPr lang="en-US" sz="1050" dirty="0"/>
          </a:p>
        </p:txBody>
      </p:sp>
      <p:sp>
        <p:nvSpPr>
          <p:cNvPr id="17" name="Text 13"/>
          <p:cNvSpPr txBox="1"/>
          <p:nvPr/>
        </p:nvSpPr>
        <p:spPr>
          <a:xfrm>
            <a:off x="7805776" y="3063240"/>
            <a:ext cx="374904" cy="548640"/>
          </a:xfrm>
          <a:prstGeom prst="rect">
            <a:avLst/>
          </a:prstGeom>
          <a:noFill/>
          <a:ln/>
        </p:spPr>
        <p:txBody>
          <a:bodyPr wrap="square" lIns="0" tIns="0" rIns="0" bIns="0" rtlCol="0" anchor="ctr"/>
          <a:lstStyle/>
          <a:p>
            <a:pPr algn="ctr" indent="0" marL="0">
              <a:buNone/>
            </a:pPr>
            <a:r>
              <a:rPr lang="en-US" sz="2200" dirty="0">
                <a:solidFill>
                  <a:srgbClr val="6B7280"/>
                </a:solidFill>
                <a:latin typeface="Calibri" pitchFamily="34" charset="0"/>
                <a:ea typeface="Calibri" pitchFamily="34" charset="-122"/>
                <a:cs typeface="Calibri" pitchFamily="34" charset="-120"/>
              </a:rPr>
              <a:t>→</a:t>
            </a:r>
            <a:endParaRPr lang="en-US" sz="2200" dirty="0"/>
          </a:p>
        </p:txBody>
      </p:sp>
      <p:sp>
        <p:nvSpPr>
          <p:cNvPr id="18" name="Shape 14"/>
          <p:cNvSpPr/>
          <p:nvPr/>
        </p:nvSpPr>
        <p:spPr>
          <a:xfrm>
            <a:off x="8198968" y="2377440"/>
            <a:ext cx="3383280" cy="1965960"/>
          </a:xfrm>
          <a:prstGeom prst="roundRect">
            <a:avLst>
              <a:gd name="adj" fmla="val 4186"/>
            </a:avLst>
          </a:prstGeom>
          <a:solidFill>
            <a:srgbClr val="161B2E"/>
          </a:solidFill>
          <a:ln/>
        </p:spPr>
      </p:sp>
      <p:sp>
        <p:nvSpPr>
          <p:cNvPr id="19" name="Shape 15"/>
          <p:cNvSpPr/>
          <p:nvPr/>
        </p:nvSpPr>
        <p:spPr>
          <a:xfrm>
            <a:off x="9588856" y="2651760"/>
            <a:ext cx="603504" cy="603504"/>
          </a:xfrm>
          <a:prstGeom prst="ellipse">
            <a:avLst/>
          </a:prstGeom>
          <a:solidFill>
            <a:srgbClr val="8B5CF6"/>
          </a:solidFill>
          <a:ln/>
        </p:spPr>
      </p:sp>
      <p:pic>
        <p:nvPicPr>
          <p:cNvPr id="20" name="Image 2" descr="/tmp/aizen_pptx/assets/icons/database_FFFFFF.png">    </p:cNvPr>
          <p:cNvPicPr>
            <a:picLocks noChangeAspect="1"/>
          </p:cNvPicPr>
          <p:nvPr/>
        </p:nvPicPr>
        <p:blipFill>
          <a:blip r:embed="rId3"/>
          <a:stretch>
            <a:fillRect/>
          </a:stretch>
        </p:blipFill>
        <p:spPr>
          <a:xfrm>
            <a:off x="9733697" y="2796601"/>
            <a:ext cx="313822" cy="313822"/>
          </a:xfrm>
          <a:prstGeom prst="rect">
            <a:avLst/>
          </a:prstGeom>
        </p:spPr>
      </p:pic>
      <p:sp>
        <p:nvSpPr>
          <p:cNvPr id="21" name="Text 16"/>
          <p:cNvSpPr txBox="1"/>
          <p:nvPr/>
        </p:nvSpPr>
        <p:spPr>
          <a:xfrm>
            <a:off x="8381848" y="3401568"/>
            <a:ext cx="301752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SQL + explanation out</a:t>
            </a:r>
            <a:endParaRPr lang="en-US" sz="1350" dirty="0"/>
          </a:p>
        </p:txBody>
      </p:sp>
      <p:sp>
        <p:nvSpPr>
          <p:cNvPr id="22" name="Text 17"/>
          <p:cNvSpPr txBox="1"/>
          <p:nvPr/>
        </p:nvSpPr>
        <p:spPr>
          <a:xfrm>
            <a:off x="8381848" y="3749040"/>
            <a:ext cx="3017520" cy="502920"/>
          </a:xfrm>
          <a:prstGeom prst="rect">
            <a:avLst/>
          </a:prstGeom>
          <a:noFill/>
          <a:ln/>
        </p:spPr>
        <p:txBody>
          <a:bodyPr wrap="square" lIns="0" tIns="0" rIns="0" bIns="0" rtlCol="0" anchor="ctr"/>
          <a:lstStyle/>
          <a:p>
            <a:pPr algn="ctr" indent="0" marL="0">
              <a:lnSpc>
                <a:spcPts val="1300"/>
              </a:lnSpc>
              <a:buNone/>
            </a:pPr>
            <a:r>
              <a:rPr lang="en-US" sz="1050" dirty="0">
                <a:solidFill>
                  <a:srgbClr val="9CA3AF"/>
                </a:solidFill>
                <a:latin typeface="Calibri" pitchFamily="34" charset="0"/>
                <a:ea typeface="Calibri" pitchFamily="34" charset="-122"/>
                <a:cs typeface="Calibri" pitchFamily="34" charset="-120"/>
              </a:rPr>
              <a:t>Syntax-highlighted query, ready to run</a:t>
            </a:r>
            <a:endParaRPr lang="en-US" sz="1050" dirty="0"/>
          </a:p>
        </p:txBody>
      </p:sp>
      <p:sp>
        <p:nvSpPr>
          <p:cNvPr id="23" name="Shape 18"/>
          <p:cNvSpPr/>
          <p:nvPr/>
        </p:nvSpPr>
        <p:spPr>
          <a:xfrm>
            <a:off x="640080" y="4709160"/>
            <a:ext cx="10911535" cy="1417320"/>
          </a:xfrm>
          <a:prstGeom prst="roundRect">
            <a:avLst>
              <a:gd name="adj" fmla="val 5806"/>
            </a:avLst>
          </a:prstGeom>
          <a:solidFill>
            <a:srgbClr val="1D2440"/>
          </a:solidFill>
          <a:ln/>
        </p:spPr>
      </p:sp>
      <p:sp>
        <p:nvSpPr>
          <p:cNvPr id="24" name="Text 19"/>
          <p:cNvSpPr txBox="1"/>
          <p:nvPr/>
        </p:nvSpPr>
        <p:spPr>
          <a:xfrm>
            <a:off x="960120" y="4937760"/>
            <a:ext cx="10296144" cy="960120"/>
          </a:xfrm>
          <a:prstGeom prst="rect">
            <a:avLst/>
          </a:prstGeom>
          <a:noFill/>
          <a:ln/>
        </p:spPr>
        <p:txBody>
          <a:bodyPr wrap="square" lIns="0" tIns="0" rIns="0" bIns="0" rtlCol="0" anchor="ctr"/>
          <a:lstStyle/>
          <a:p>
            <a:pPr indent="0" marL="0">
              <a:lnSpc>
                <a:spcPts val="1900"/>
              </a:lnSpc>
              <a:buNone/>
            </a:pPr>
            <a:r>
              <a:rPr lang="en-US" sz="1300" b="1" dirty="0">
                <a:solidFill>
                  <a:srgbClr val="FBBF24"/>
                </a:solidFill>
                <a:latin typeface="Calibri" pitchFamily="34" charset="0"/>
                <a:ea typeface="Calibri" pitchFamily="34" charset="-122"/>
                <a:cs typeface="Calibri" pitchFamily="34" charset="-120"/>
              </a:rPr>
              <a:t>Prompt-based specialization, not fine-tuning.  </a:t>
            </a:r>
            <a:pPr indent="0" marL="0">
              <a:lnSpc>
                <a:spcPts val="1900"/>
              </a:lnSpc>
              <a:buNone/>
            </a:pPr>
            <a:r>
              <a:rPr lang="en-US" sz="1300" dirty="0">
                <a:solidFill>
                  <a:srgbClr val="D7D9E4"/>
                </a:solidFill>
                <a:latin typeface="Calibri" pitchFamily="34" charset="0"/>
                <a:ea typeface="Calibri" pitchFamily="34" charset="-122"/>
                <a:cs typeface="Calibri" pitchFamily="34" charset="-120"/>
              </a:rPr>
              <a:t>The same Groq-hosted model used for chat is narrowed to this one job through a dedicated system prompt and a strict output contract — the practical substitute for training a separate model, used throughout this project.</a:t>
            </a:r>
            <a:endParaRPr lang="en-US" sz="1300" dirty="0"/>
          </a:p>
        </p:txBody>
      </p:sp>
      <p:sp>
        <p:nvSpPr>
          <p:cNvPr id="25" name="Text 20"/>
          <p:cNvSpPr txBox="1"/>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4B5065"/>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00" b="1" spc="200" kern="0" dirty="0">
                <a:solidFill>
                  <a:srgbClr val="8B5CF6"/>
                </a:solidFill>
                <a:latin typeface="Calibri" pitchFamily="34" charset="0"/>
                <a:ea typeface="Calibri" pitchFamily="34" charset="-122"/>
                <a:cs typeface="Calibri" pitchFamily="34" charset="-120"/>
              </a:rPr>
              <a:t>WORKFLOW</a:t>
            </a:r>
            <a:endParaRPr lang="en-US" sz="12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algn="l" indent="0" marL="0">
              <a:buNone/>
            </a:pPr>
            <a:r>
              <a:rPr lang="en-US" sz="3000" b="1" dirty="0">
                <a:solidFill>
                  <a:srgbClr val="13131F"/>
                </a:solidFill>
                <a:latin typeface="Calibri" pitchFamily="34" charset="0"/>
                <a:ea typeface="Calibri" pitchFamily="34" charset="-122"/>
                <a:cs typeface="Calibri" pitchFamily="34" charset="-120"/>
              </a:rPr>
              <a:t>One instruction, start to finish</a:t>
            </a:r>
            <a:endParaRPr lang="en-US" sz="3000" dirty="0"/>
          </a:p>
        </p:txBody>
      </p:sp>
      <p:sp>
        <p:nvSpPr>
          <p:cNvPr id="4" name="Shape 2"/>
          <p:cNvSpPr/>
          <p:nvPr/>
        </p:nvSpPr>
        <p:spPr>
          <a:xfrm>
            <a:off x="668884" y="2103120"/>
            <a:ext cx="1965960" cy="2651760"/>
          </a:xfrm>
          <a:prstGeom prst="roundRect">
            <a:avLst>
              <a:gd name="adj" fmla="val 4186"/>
            </a:avLst>
          </a:prstGeom>
          <a:solidFill>
            <a:srgbClr val="F5F5FB"/>
          </a:solidFill>
          <a:ln/>
        </p:spPr>
      </p:sp>
      <p:sp>
        <p:nvSpPr>
          <p:cNvPr id="5" name="Text 3"/>
          <p:cNvSpPr txBox="1"/>
          <p:nvPr/>
        </p:nvSpPr>
        <p:spPr>
          <a:xfrm>
            <a:off x="806044" y="2212848"/>
            <a:ext cx="457200" cy="365760"/>
          </a:xfrm>
          <a:prstGeom prst="rect">
            <a:avLst/>
          </a:prstGeom>
          <a:noFill/>
          <a:ln/>
        </p:spPr>
        <p:txBody>
          <a:bodyPr wrap="square" lIns="0" tIns="0" rIns="0" bIns="0" rtlCol="0" anchor="ctr"/>
          <a:lstStyle/>
          <a:p>
            <a:pPr indent="0" marL="0">
              <a:buNone/>
            </a:pPr>
            <a:r>
              <a:rPr lang="en-US" sz="1500" b="1" dirty="0">
                <a:solidFill>
                  <a:srgbClr val="9CA3AF"/>
                </a:solidFill>
                <a:latin typeface="Calibri" pitchFamily="34" charset="0"/>
                <a:ea typeface="Calibri" pitchFamily="34" charset="-122"/>
                <a:cs typeface="Calibri" pitchFamily="34" charset="-120"/>
              </a:rPr>
              <a:t>1</a:t>
            </a:r>
            <a:endParaRPr lang="en-US" sz="1500" dirty="0"/>
          </a:p>
        </p:txBody>
      </p:sp>
      <p:sp>
        <p:nvSpPr>
          <p:cNvPr id="6" name="Shape 4"/>
          <p:cNvSpPr/>
          <p:nvPr/>
        </p:nvSpPr>
        <p:spPr>
          <a:xfrm>
            <a:off x="1359256" y="2606040"/>
            <a:ext cx="585216" cy="585216"/>
          </a:xfrm>
          <a:prstGeom prst="ellipse">
            <a:avLst/>
          </a:prstGeom>
          <a:solidFill>
            <a:srgbClr val="8B5CF6"/>
          </a:solidFill>
          <a:ln/>
        </p:spPr>
      </p:sp>
      <p:pic>
        <p:nvPicPr>
          <p:cNvPr id="7" name="Image 0" descr="/tmp/aizen_pptx/assets/icons/message_FFFFFF.png">    </p:cNvPr>
          <p:cNvPicPr>
            <a:picLocks noChangeAspect="1"/>
          </p:cNvPicPr>
          <p:nvPr/>
        </p:nvPicPr>
        <p:blipFill>
          <a:blip r:embed="rId1"/>
          <a:stretch>
            <a:fillRect/>
          </a:stretch>
        </p:blipFill>
        <p:spPr>
          <a:xfrm>
            <a:off x="1499707" y="2746492"/>
            <a:ext cx="304312" cy="304312"/>
          </a:xfrm>
          <a:prstGeom prst="rect">
            <a:avLst/>
          </a:prstGeom>
        </p:spPr>
      </p:pic>
      <p:sp>
        <p:nvSpPr>
          <p:cNvPr id="8" name="Text 5"/>
          <p:cNvSpPr txBox="1"/>
          <p:nvPr/>
        </p:nvSpPr>
        <p:spPr>
          <a:xfrm>
            <a:off x="806044" y="3337560"/>
            <a:ext cx="1691640" cy="548640"/>
          </a:xfrm>
          <a:prstGeom prst="rect">
            <a:avLst/>
          </a:prstGeom>
          <a:noFill/>
          <a:ln/>
        </p:spPr>
        <p:txBody>
          <a:bodyPr wrap="square" lIns="0" tIns="0" rIns="0" bIns="0" rtlCol="0" anchor="ctr"/>
          <a:lstStyle/>
          <a:p>
            <a:pPr algn="ctr" indent="0" marL="0">
              <a:lnSpc>
                <a:spcPts val="1500"/>
              </a:lnSpc>
              <a:buNone/>
            </a:pPr>
            <a:r>
              <a:rPr lang="en-US" sz="1250" b="1" dirty="0">
                <a:solidFill>
                  <a:srgbClr val="13131F"/>
                </a:solidFill>
                <a:latin typeface="Calibri" pitchFamily="34" charset="0"/>
                <a:ea typeface="Calibri" pitchFamily="34" charset="-122"/>
                <a:cs typeface="Calibri" pitchFamily="34" charset="-120"/>
              </a:rPr>
              <a:t>Type one instruction</a:t>
            </a:r>
            <a:endParaRPr lang="en-US" sz="1250" dirty="0"/>
          </a:p>
        </p:txBody>
      </p:sp>
      <p:sp>
        <p:nvSpPr>
          <p:cNvPr id="9" name="Text 6"/>
          <p:cNvSpPr txBox="1"/>
          <p:nvPr/>
        </p:nvSpPr>
        <p:spPr>
          <a:xfrm>
            <a:off x="806044" y="3913632"/>
            <a:ext cx="1691640" cy="731520"/>
          </a:xfrm>
          <a:prstGeom prst="rect">
            <a:avLst/>
          </a:prstGeom>
          <a:noFill/>
          <a:ln/>
        </p:spPr>
        <p:txBody>
          <a:bodyPr wrap="square" lIns="0" tIns="0" rIns="0" bIns="0" rtlCol="0" anchor="ctr"/>
          <a:lstStyle/>
          <a:p>
            <a:pPr algn="ctr" indent="0" marL="0">
              <a:lnSpc>
                <a:spcPts val="1300"/>
              </a:lnSpc>
              <a:buNone/>
            </a:pPr>
            <a:r>
              <a:rPr lang="en-US" sz="1000" dirty="0">
                <a:solidFill>
                  <a:srgbClr val="6B7280"/>
                </a:solidFill>
                <a:latin typeface="Calibri" pitchFamily="34" charset="0"/>
                <a:ea typeface="Calibri" pitchFamily="34" charset="-122"/>
                <a:cs typeface="Calibri" pitchFamily="34" charset="-120"/>
              </a:rPr>
              <a:t>A single natural-language request.</a:t>
            </a:r>
            <a:endParaRPr lang="en-US" sz="1000" dirty="0"/>
          </a:p>
        </p:txBody>
      </p:sp>
      <p:sp>
        <p:nvSpPr>
          <p:cNvPr id="10" name="Text 7"/>
          <p:cNvSpPr txBox="1"/>
          <p:nvPr/>
        </p:nvSpPr>
        <p:spPr>
          <a:xfrm>
            <a:off x="2643988" y="3154680"/>
            <a:ext cx="237744" cy="457200"/>
          </a:xfrm>
          <a:prstGeom prst="rect">
            <a:avLst/>
          </a:prstGeom>
          <a:noFill/>
          <a:ln/>
        </p:spPr>
        <p:txBody>
          <a:bodyPr wrap="square" lIns="0" tIns="0" rIns="0" bIns="0" rtlCol="0" anchor="ctr"/>
          <a:lstStyle/>
          <a:p>
            <a:pPr algn="ctr" indent="0" marL="0">
              <a:buNone/>
            </a:pPr>
            <a:r>
              <a:rPr lang="en-US" sz="1600" dirty="0">
                <a:solidFill>
                  <a:srgbClr val="9CA3AF"/>
                </a:solidFill>
                <a:latin typeface="Calibri" pitchFamily="34" charset="0"/>
                <a:ea typeface="Calibri" pitchFamily="34" charset="-122"/>
                <a:cs typeface="Calibri" pitchFamily="34" charset="-120"/>
              </a:rPr>
              <a:t>→</a:t>
            </a:r>
            <a:endParaRPr lang="en-US" sz="1600" dirty="0"/>
          </a:p>
        </p:txBody>
      </p:sp>
      <p:sp>
        <p:nvSpPr>
          <p:cNvPr id="11" name="Shape 8"/>
          <p:cNvSpPr/>
          <p:nvPr/>
        </p:nvSpPr>
        <p:spPr>
          <a:xfrm>
            <a:off x="2890876" y="2103120"/>
            <a:ext cx="1965960" cy="2651760"/>
          </a:xfrm>
          <a:prstGeom prst="roundRect">
            <a:avLst>
              <a:gd name="adj" fmla="val 4186"/>
            </a:avLst>
          </a:prstGeom>
          <a:solidFill>
            <a:srgbClr val="F5F5FB"/>
          </a:solidFill>
          <a:ln/>
        </p:spPr>
      </p:sp>
      <p:sp>
        <p:nvSpPr>
          <p:cNvPr id="12" name="Text 9"/>
          <p:cNvSpPr txBox="1"/>
          <p:nvPr/>
        </p:nvSpPr>
        <p:spPr>
          <a:xfrm>
            <a:off x="3028036" y="2212848"/>
            <a:ext cx="457200" cy="365760"/>
          </a:xfrm>
          <a:prstGeom prst="rect">
            <a:avLst/>
          </a:prstGeom>
          <a:noFill/>
          <a:ln/>
        </p:spPr>
        <p:txBody>
          <a:bodyPr wrap="square" lIns="0" tIns="0" rIns="0" bIns="0" rtlCol="0" anchor="ctr"/>
          <a:lstStyle/>
          <a:p>
            <a:pPr indent="0" marL="0">
              <a:buNone/>
            </a:pPr>
            <a:r>
              <a:rPr lang="en-US" sz="1500" b="1" dirty="0">
                <a:solidFill>
                  <a:srgbClr val="9CA3AF"/>
                </a:solidFill>
                <a:latin typeface="Calibri" pitchFamily="34" charset="0"/>
                <a:ea typeface="Calibri" pitchFamily="34" charset="-122"/>
                <a:cs typeface="Calibri" pitchFamily="34" charset="-120"/>
              </a:rPr>
              <a:t>2</a:t>
            </a:r>
            <a:endParaRPr lang="en-US" sz="1500" dirty="0"/>
          </a:p>
        </p:txBody>
      </p:sp>
      <p:sp>
        <p:nvSpPr>
          <p:cNvPr id="13" name="Shape 10"/>
          <p:cNvSpPr/>
          <p:nvPr/>
        </p:nvSpPr>
        <p:spPr>
          <a:xfrm>
            <a:off x="3581248" y="2606040"/>
            <a:ext cx="585216" cy="585216"/>
          </a:xfrm>
          <a:prstGeom prst="ellipse">
            <a:avLst/>
          </a:prstGeom>
          <a:solidFill>
            <a:srgbClr val="22D3EE"/>
          </a:solidFill>
          <a:ln/>
        </p:spPr>
      </p:sp>
      <p:pic>
        <p:nvPicPr>
          <p:cNvPr id="14" name="Image 1" descr="/tmp/aizen_pptx/assets/icons/shuffle_FFFFFF.png">    </p:cNvPr>
          <p:cNvPicPr>
            <a:picLocks noChangeAspect="1"/>
          </p:cNvPicPr>
          <p:nvPr/>
        </p:nvPicPr>
        <p:blipFill>
          <a:blip r:embed="rId2"/>
          <a:stretch>
            <a:fillRect/>
          </a:stretch>
        </p:blipFill>
        <p:spPr>
          <a:xfrm>
            <a:off x="3721699" y="2746492"/>
            <a:ext cx="304312" cy="304312"/>
          </a:xfrm>
          <a:prstGeom prst="rect">
            <a:avLst/>
          </a:prstGeom>
        </p:spPr>
      </p:pic>
      <p:sp>
        <p:nvSpPr>
          <p:cNvPr id="15" name="Text 11"/>
          <p:cNvSpPr txBox="1"/>
          <p:nvPr/>
        </p:nvSpPr>
        <p:spPr>
          <a:xfrm>
            <a:off x="3028036" y="3337560"/>
            <a:ext cx="1691640" cy="548640"/>
          </a:xfrm>
          <a:prstGeom prst="rect">
            <a:avLst/>
          </a:prstGeom>
          <a:noFill/>
          <a:ln/>
        </p:spPr>
        <p:txBody>
          <a:bodyPr wrap="square" lIns="0" tIns="0" rIns="0" bIns="0" rtlCol="0" anchor="ctr"/>
          <a:lstStyle/>
          <a:p>
            <a:pPr algn="ctr" indent="0" marL="0">
              <a:lnSpc>
                <a:spcPts val="1500"/>
              </a:lnSpc>
              <a:buNone/>
            </a:pPr>
            <a:r>
              <a:rPr lang="en-US" sz="1250" b="1" dirty="0">
                <a:solidFill>
                  <a:srgbClr val="13131F"/>
                </a:solidFill>
                <a:latin typeface="Calibri" pitchFamily="34" charset="0"/>
                <a:ea typeface="Calibri" pitchFamily="34" charset="-122"/>
                <a:cs typeface="Calibri" pitchFamily="34" charset="-120"/>
              </a:rPr>
              <a:t>Intent is classified</a:t>
            </a:r>
            <a:endParaRPr lang="en-US" sz="1250" dirty="0"/>
          </a:p>
        </p:txBody>
      </p:sp>
      <p:sp>
        <p:nvSpPr>
          <p:cNvPr id="16" name="Text 12"/>
          <p:cNvSpPr txBox="1"/>
          <p:nvPr/>
        </p:nvSpPr>
        <p:spPr>
          <a:xfrm>
            <a:off x="3028036" y="3913632"/>
            <a:ext cx="1691640" cy="731520"/>
          </a:xfrm>
          <a:prstGeom prst="rect">
            <a:avLst/>
          </a:prstGeom>
          <a:noFill/>
          <a:ln/>
        </p:spPr>
        <p:txBody>
          <a:bodyPr wrap="square" lIns="0" tIns="0" rIns="0" bIns="0" rtlCol="0" anchor="ctr"/>
          <a:lstStyle/>
          <a:p>
            <a:pPr algn="ctr" indent="0" marL="0">
              <a:lnSpc>
                <a:spcPts val="1300"/>
              </a:lnSpc>
              <a:buNone/>
            </a:pPr>
            <a:r>
              <a:rPr lang="en-US" sz="1000" dirty="0">
                <a:solidFill>
                  <a:srgbClr val="6B7280"/>
                </a:solidFill>
                <a:latin typeface="Calibri" pitchFamily="34" charset="0"/>
                <a:ea typeface="Calibri" pitchFamily="34" charset="-122"/>
                <a:cs typeface="Calibri" pitchFamily="34" charset="-120"/>
              </a:rPr>
              <a:t>Routed to chat, build, or refine.</a:t>
            </a:r>
            <a:endParaRPr lang="en-US" sz="1000" dirty="0"/>
          </a:p>
        </p:txBody>
      </p:sp>
      <p:sp>
        <p:nvSpPr>
          <p:cNvPr id="17" name="Text 13"/>
          <p:cNvSpPr txBox="1"/>
          <p:nvPr/>
        </p:nvSpPr>
        <p:spPr>
          <a:xfrm>
            <a:off x="4865980" y="3154680"/>
            <a:ext cx="237744" cy="457200"/>
          </a:xfrm>
          <a:prstGeom prst="rect">
            <a:avLst/>
          </a:prstGeom>
          <a:noFill/>
          <a:ln/>
        </p:spPr>
        <p:txBody>
          <a:bodyPr wrap="square" lIns="0" tIns="0" rIns="0" bIns="0" rtlCol="0" anchor="ctr"/>
          <a:lstStyle/>
          <a:p>
            <a:pPr algn="ctr" indent="0" marL="0">
              <a:buNone/>
            </a:pPr>
            <a:r>
              <a:rPr lang="en-US" sz="1600" dirty="0">
                <a:solidFill>
                  <a:srgbClr val="9CA3AF"/>
                </a:solidFill>
                <a:latin typeface="Calibri" pitchFamily="34" charset="0"/>
                <a:ea typeface="Calibri" pitchFamily="34" charset="-122"/>
                <a:cs typeface="Calibri" pitchFamily="34" charset="-120"/>
              </a:rPr>
              <a:t>→</a:t>
            </a:r>
            <a:endParaRPr lang="en-US" sz="1600" dirty="0"/>
          </a:p>
        </p:txBody>
      </p:sp>
      <p:sp>
        <p:nvSpPr>
          <p:cNvPr id="18" name="Shape 14"/>
          <p:cNvSpPr/>
          <p:nvPr/>
        </p:nvSpPr>
        <p:spPr>
          <a:xfrm>
            <a:off x="5112868" y="2103120"/>
            <a:ext cx="1965960" cy="2651760"/>
          </a:xfrm>
          <a:prstGeom prst="roundRect">
            <a:avLst>
              <a:gd name="adj" fmla="val 4186"/>
            </a:avLst>
          </a:prstGeom>
          <a:solidFill>
            <a:srgbClr val="F5F5FB"/>
          </a:solidFill>
          <a:ln/>
        </p:spPr>
      </p:sp>
      <p:sp>
        <p:nvSpPr>
          <p:cNvPr id="19" name="Text 15"/>
          <p:cNvSpPr txBox="1"/>
          <p:nvPr/>
        </p:nvSpPr>
        <p:spPr>
          <a:xfrm>
            <a:off x="5250028" y="2212848"/>
            <a:ext cx="457200" cy="365760"/>
          </a:xfrm>
          <a:prstGeom prst="rect">
            <a:avLst/>
          </a:prstGeom>
          <a:noFill/>
          <a:ln/>
        </p:spPr>
        <p:txBody>
          <a:bodyPr wrap="square" lIns="0" tIns="0" rIns="0" bIns="0" rtlCol="0" anchor="ctr"/>
          <a:lstStyle/>
          <a:p>
            <a:pPr indent="0" marL="0">
              <a:buNone/>
            </a:pPr>
            <a:r>
              <a:rPr lang="en-US" sz="1500" b="1" dirty="0">
                <a:solidFill>
                  <a:srgbClr val="9CA3AF"/>
                </a:solidFill>
                <a:latin typeface="Calibri" pitchFamily="34" charset="0"/>
                <a:ea typeface="Calibri" pitchFamily="34" charset="-122"/>
                <a:cs typeface="Calibri" pitchFamily="34" charset="-120"/>
              </a:rPr>
              <a:t>3</a:t>
            </a:r>
            <a:endParaRPr lang="en-US" sz="1500" dirty="0"/>
          </a:p>
        </p:txBody>
      </p:sp>
      <p:sp>
        <p:nvSpPr>
          <p:cNvPr id="20" name="Shape 16"/>
          <p:cNvSpPr/>
          <p:nvPr/>
        </p:nvSpPr>
        <p:spPr>
          <a:xfrm>
            <a:off x="5803240" y="2606040"/>
            <a:ext cx="585216" cy="585216"/>
          </a:xfrm>
          <a:prstGeom prst="ellipse">
            <a:avLst/>
          </a:prstGeom>
          <a:solidFill>
            <a:srgbClr val="FBBF24"/>
          </a:solidFill>
          <a:ln/>
        </p:spPr>
      </p:sp>
      <p:pic>
        <p:nvPicPr>
          <p:cNvPr id="21" name="Image 2" descr="/tmp/aizen_pptx/assets/icons/package_FFFFFF.png">    </p:cNvPr>
          <p:cNvPicPr>
            <a:picLocks noChangeAspect="1"/>
          </p:cNvPicPr>
          <p:nvPr/>
        </p:nvPicPr>
        <p:blipFill>
          <a:blip r:embed="rId3"/>
          <a:stretch>
            <a:fillRect/>
          </a:stretch>
        </p:blipFill>
        <p:spPr>
          <a:xfrm>
            <a:off x="5943691" y="2746492"/>
            <a:ext cx="304312" cy="304312"/>
          </a:xfrm>
          <a:prstGeom prst="rect">
            <a:avLst/>
          </a:prstGeom>
        </p:spPr>
      </p:pic>
      <p:sp>
        <p:nvSpPr>
          <p:cNvPr id="22" name="Text 17"/>
          <p:cNvSpPr txBox="1"/>
          <p:nvPr/>
        </p:nvSpPr>
        <p:spPr>
          <a:xfrm>
            <a:off x="5250028" y="3337560"/>
            <a:ext cx="1691640" cy="548640"/>
          </a:xfrm>
          <a:prstGeom prst="rect">
            <a:avLst/>
          </a:prstGeom>
          <a:noFill/>
          <a:ln/>
        </p:spPr>
        <p:txBody>
          <a:bodyPr wrap="square" lIns="0" tIns="0" rIns="0" bIns="0" rtlCol="0" anchor="ctr"/>
          <a:lstStyle/>
          <a:p>
            <a:pPr algn="ctr" indent="0" marL="0">
              <a:lnSpc>
                <a:spcPts val="1500"/>
              </a:lnSpc>
              <a:buNone/>
            </a:pPr>
            <a:r>
              <a:rPr lang="en-US" sz="1250" b="1" dirty="0">
                <a:solidFill>
                  <a:srgbClr val="13131F"/>
                </a:solidFill>
                <a:latin typeface="Calibri" pitchFamily="34" charset="0"/>
                <a:ea typeface="Calibri" pitchFamily="34" charset="-122"/>
                <a:cs typeface="Calibri" pitchFamily="34" charset="-120"/>
              </a:rPr>
              <a:t>Model-backed generation</a:t>
            </a:r>
            <a:endParaRPr lang="en-US" sz="1250" dirty="0"/>
          </a:p>
        </p:txBody>
      </p:sp>
      <p:sp>
        <p:nvSpPr>
          <p:cNvPr id="23" name="Text 18"/>
          <p:cNvSpPr txBox="1"/>
          <p:nvPr/>
        </p:nvSpPr>
        <p:spPr>
          <a:xfrm>
            <a:off x="5250028" y="3913632"/>
            <a:ext cx="1691640" cy="731520"/>
          </a:xfrm>
          <a:prstGeom prst="rect">
            <a:avLst/>
          </a:prstGeom>
          <a:noFill/>
          <a:ln/>
        </p:spPr>
        <p:txBody>
          <a:bodyPr wrap="square" lIns="0" tIns="0" rIns="0" bIns="0" rtlCol="0" anchor="ctr"/>
          <a:lstStyle/>
          <a:p>
            <a:pPr algn="ctr" indent="0" marL="0">
              <a:lnSpc>
                <a:spcPts val="1300"/>
              </a:lnSpc>
              <a:buNone/>
            </a:pPr>
            <a:r>
              <a:rPr lang="en-US" sz="1000" dirty="0">
                <a:solidFill>
                  <a:srgbClr val="6B7280"/>
                </a:solidFill>
                <a:latin typeface="Calibri" pitchFamily="34" charset="0"/>
                <a:ea typeface="Calibri" pitchFamily="34" charset="-122"/>
                <a:cs typeface="Calibri" pitchFamily="34" charset="-120"/>
              </a:rPr>
              <a:t>Structured project across blueprints.</a:t>
            </a:r>
            <a:endParaRPr lang="en-US" sz="1000" dirty="0"/>
          </a:p>
        </p:txBody>
      </p:sp>
      <p:sp>
        <p:nvSpPr>
          <p:cNvPr id="24" name="Text 19"/>
          <p:cNvSpPr txBox="1"/>
          <p:nvPr/>
        </p:nvSpPr>
        <p:spPr>
          <a:xfrm>
            <a:off x="7087972" y="3154680"/>
            <a:ext cx="237744" cy="457200"/>
          </a:xfrm>
          <a:prstGeom prst="rect">
            <a:avLst/>
          </a:prstGeom>
          <a:noFill/>
          <a:ln/>
        </p:spPr>
        <p:txBody>
          <a:bodyPr wrap="square" lIns="0" tIns="0" rIns="0" bIns="0" rtlCol="0" anchor="ctr"/>
          <a:lstStyle/>
          <a:p>
            <a:pPr algn="ctr" indent="0" marL="0">
              <a:buNone/>
            </a:pPr>
            <a:r>
              <a:rPr lang="en-US" sz="1600" dirty="0">
                <a:solidFill>
                  <a:srgbClr val="9CA3AF"/>
                </a:solidFill>
                <a:latin typeface="Calibri" pitchFamily="34" charset="0"/>
                <a:ea typeface="Calibri" pitchFamily="34" charset="-122"/>
                <a:cs typeface="Calibri" pitchFamily="34" charset="-120"/>
              </a:rPr>
              <a:t>→</a:t>
            </a:r>
            <a:endParaRPr lang="en-US" sz="1600" dirty="0"/>
          </a:p>
        </p:txBody>
      </p:sp>
      <p:sp>
        <p:nvSpPr>
          <p:cNvPr id="25" name="Shape 20"/>
          <p:cNvSpPr/>
          <p:nvPr/>
        </p:nvSpPr>
        <p:spPr>
          <a:xfrm>
            <a:off x="7334860" y="2103120"/>
            <a:ext cx="1965960" cy="2651760"/>
          </a:xfrm>
          <a:prstGeom prst="roundRect">
            <a:avLst>
              <a:gd name="adj" fmla="val 4186"/>
            </a:avLst>
          </a:prstGeom>
          <a:solidFill>
            <a:srgbClr val="F5F5FB"/>
          </a:solidFill>
          <a:ln/>
        </p:spPr>
      </p:sp>
      <p:sp>
        <p:nvSpPr>
          <p:cNvPr id="26" name="Text 21"/>
          <p:cNvSpPr txBox="1"/>
          <p:nvPr/>
        </p:nvSpPr>
        <p:spPr>
          <a:xfrm>
            <a:off x="7472020" y="2212848"/>
            <a:ext cx="457200" cy="365760"/>
          </a:xfrm>
          <a:prstGeom prst="rect">
            <a:avLst/>
          </a:prstGeom>
          <a:noFill/>
          <a:ln/>
        </p:spPr>
        <p:txBody>
          <a:bodyPr wrap="square" lIns="0" tIns="0" rIns="0" bIns="0" rtlCol="0" anchor="ctr"/>
          <a:lstStyle/>
          <a:p>
            <a:pPr indent="0" marL="0">
              <a:buNone/>
            </a:pPr>
            <a:r>
              <a:rPr lang="en-US" sz="1500" b="1" dirty="0">
                <a:solidFill>
                  <a:srgbClr val="9CA3AF"/>
                </a:solidFill>
                <a:latin typeface="Calibri" pitchFamily="34" charset="0"/>
                <a:ea typeface="Calibri" pitchFamily="34" charset="-122"/>
                <a:cs typeface="Calibri" pitchFamily="34" charset="-120"/>
              </a:rPr>
              <a:t>4</a:t>
            </a:r>
            <a:endParaRPr lang="en-US" sz="1500" dirty="0"/>
          </a:p>
        </p:txBody>
      </p:sp>
      <p:sp>
        <p:nvSpPr>
          <p:cNvPr id="27" name="Shape 22"/>
          <p:cNvSpPr/>
          <p:nvPr/>
        </p:nvSpPr>
        <p:spPr>
          <a:xfrm>
            <a:off x="8025232" y="2606040"/>
            <a:ext cx="585216" cy="585216"/>
          </a:xfrm>
          <a:prstGeom prst="ellipse">
            <a:avLst/>
          </a:prstGeom>
          <a:solidFill>
            <a:srgbClr val="8B5CF6"/>
          </a:solidFill>
          <a:ln/>
        </p:spPr>
      </p:sp>
      <p:pic>
        <p:nvPicPr>
          <p:cNvPr id="28" name="Image 3" descr="/tmp/aizen_pptx/assets/icons/repeat_FFFFFF.png">    </p:cNvPr>
          <p:cNvPicPr>
            <a:picLocks noChangeAspect="1"/>
          </p:cNvPicPr>
          <p:nvPr/>
        </p:nvPicPr>
        <p:blipFill>
          <a:blip r:embed="rId4"/>
          <a:stretch>
            <a:fillRect/>
          </a:stretch>
        </p:blipFill>
        <p:spPr>
          <a:xfrm>
            <a:off x="8165683" y="2746492"/>
            <a:ext cx="304312" cy="304312"/>
          </a:xfrm>
          <a:prstGeom prst="rect">
            <a:avLst/>
          </a:prstGeom>
        </p:spPr>
      </p:pic>
      <p:sp>
        <p:nvSpPr>
          <p:cNvPr id="29" name="Text 23"/>
          <p:cNvSpPr txBox="1"/>
          <p:nvPr/>
        </p:nvSpPr>
        <p:spPr>
          <a:xfrm>
            <a:off x="7472020" y="3337560"/>
            <a:ext cx="1691640" cy="548640"/>
          </a:xfrm>
          <a:prstGeom prst="rect">
            <a:avLst/>
          </a:prstGeom>
          <a:noFill/>
          <a:ln/>
        </p:spPr>
        <p:txBody>
          <a:bodyPr wrap="square" lIns="0" tIns="0" rIns="0" bIns="0" rtlCol="0" anchor="ctr"/>
          <a:lstStyle/>
          <a:p>
            <a:pPr algn="ctr" indent="0" marL="0">
              <a:lnSpc>
                <a:spcPts val="1500"/>
              </a:lnSpc>
              <a:buNone/>
            </a:pPr>
            <a:r>
              <a:rPr lang="en-US" sz="1250" b="1" dirty="0">
                <a:solidFill>
                  <a:srgbClr val="13131F"/>
                </a:solidFill>
                <a:latin typeface="Calibri" pitchFamily="34" charset="0"/>
                <a:ea typeface="Calibri" pitchFamily="34" charset="-122"/>
                <a:cs typeface="Calibri" pitchFamily="34" charset="-120"/>
              </a:rPr>
              <a:t>Agent loop refines it</a:t>
            </a:r>
            <a:endParaRPr lang="en-US" sz="1250" dirty="0"/>
          </a:p>
        </p:txBody>
      </p:sp>
      <p:sp>
        <p:nvSpPr>
          <p:cNvPr id="30" name="Text 24"/>
          <p:cNvSpPr txBox="1"/>
          <p:nvPr/>
        </p:nvSpPr>
        <p:spPr>
          <a:xfrm>
            <a:off x="7472020" y="3913632"/>
            <a:ext cx="1691640" cy="731520"/>
          </a:xfrm>
          <a:prstGeom prst="rect">
            <a:avLst/>
          </a:prstGeom>
          <a:noFill/>
          <a:ln/>
        </p:spPr>
        <p:txBody>
          <a:bodyPr wrap="square" lIns="0" tIns="0" rIns="0" bIns="0" rtlCol="0" anchor="ctr"/>
          <a:lstStyle/>
          <a:p>
            <a:pPr algn="ctr" indent="0" marL="0">
              <a:lnSpc>
                <a:spcPts val="1300"/>
              </a:lnSpc>
              <a:buNone/>
            </a:pPr>
            <a:r>
              <a:rPr lang="en-US" sz="1000" dirty="0">
                <a:solidFill>
                  <a:srgbClr val="6B7280"/>
                </a:solidFill>
                <a:latin typeface="Calibri" pitchFamily="34" charset="0"/>
                <a:ea typeface="Calibri" pitchFamily="34" charset="-122"/>
                <a:cs typeface="Calibri" pitchFamily="34" charset="-120"/>
              </a:rPr>
              <a:t>List / read / rewrite / run, bounded.</a:t>
            </a:r>
            <a:endParaRPr lang="en-US" sz="1000" dirty="0"/>
          </a:p>
        </p:txBody>
      </p:sp>
      <p:sp>
        <p:nvSpPr>
          <p:cNvPr id="31" name="Text 25"/>
          <p:cNvSpPr txBox="1"/>
          <p:nvPr/>
        </p:nvSpPr>
        <p:spPr>
          <a:xfrm>
            <a:off x="9309964" y="3154680"/>
            <a:ext cx="237744" cy="457200"/>
          </a:xfrm>
          <a:prstGeom prst="rect">
            <a:avLst/>
          </a:prstGeom>
          <a:noFill/>
          <a:ln/>
        </p:spPr>
        <p:txBody>
          <a:bodyPr wrap="square" lIns="0" tIns="0" rIns="0" bIns="0" rtlCol="0" anchor="ctr"/>
          <a:lstStyle/>
          <a:p>
            <a:pPr algn="ctr" indent="0" marL="0">
              <a:buNone/>
            </a:pPr>
            <a:r>
              <a:rPr lang="en-US" sz="1600" dirty="0">
                <a:solidFill>
                  <a:srgbClr val="9CA3AF"/>
                </a:solidFill>
                <a:latin typeface="Calibri" pitchFamily="34" charset="0"/>
                <a:ea typeface="Calibri" pitchFamily="34" charset="-122"/>
                <a:cs typeface="Calibri" pitchFamily="34" charset="-120"/>
              </a:rPr>
              <a:t>→</a:t>
            </a:r>
            <a:endParaRPr lang="en-US" sz="1600" dirty="0"/>
          </a:p>
        </p:txBody>
      </p:sp>
      <p:sp>
        <p:nvSpPr>
          <p:cNvPr id="32" name="Shape 26"/>
          <p:cNvSpPr/>
          <p:nvPr/>
        </p:nvSpPr>
        <p:spPr>
          <a:xfrm>
            <a:off x="9556852" y="2103120"/>
            <a:ext cx="1965960" cy="2651760"/>
          </a:xfrm>
          <a:prstGeom prst="roundRect">
            <a:avLst>
              <a:gd name="adj" fmla="val 4186"/>
            </a:avLst>
          </a:prstGeom>
          <a:solidFill>
            <a:srgbClr val="F5F5FB"/>
          </a:solidFill>
          <a:ln/>
        </p:spPr>
      </p:sp>
      <p:sp>
        <p:nvSpPr>
          <p:cNvPr id="33" name="Text 27"/>
          <p:cNvSpPr txBox="1"/>
          <p:nvPr/>
        </p:nvSpPr>
        <p:spPr>
          <a:xfrm>
            <a:off x="9694012" y="2212848"/>
            <a:ext cx="457200" cy="365760"/>
          </a:xfrm>
          <a:prstGeom prst="rect">
            <a:avLst/>
          </a:prstGeom>
          <a:noFill/>
          <a:ln/>
        </p:spPr>
        <p:txBody>
          <a:bodyPr wrap="square" lIns="0" tIns="0" rIns="0" bIns="0" rtlCol="0" anchor="ctr"/>
          <a:lstStyle/>
          <a:p>
            <a:pPr indent="0" marL="0">
              <a:buNone/>
            </a:pPr>
            <a:r>
              <a:rPr lang="en-US" sz="1500" b="1" dirty="0">
                <a:solidFill>
                  <a:srgbClr val="9CA3AF"/>
                </a:solidFill>
                <a:latin typeface="Calibri" pitchFamily="34" charset="0"/>
                <a:ea typeface="Calibri" pitchFamily="34" charset="-122"/>
                <a:cs typeface="Calibri" pitchFamily="34" charset="-120"/>
              </a:rPr>
              <a:t>5</a:t>
            </a:r>
            <a:endParaRPr lang="en-US" sz="1500" dirty="0"/>
          </a:p>
        </p:txBody>
      </p:sp>
      <p:sp>
        <p:nvSpPr>
          <p:cNvPr id="34" name="Shape 28"/>
          <p:cNvSpPr/>
          <p:nvPr/>
        </p:nvSpPr>
        <p:spPr>
          <a:xfrm>
            <a:off x="10247224" y="2606040"/>
            <a:ext cx="585216" cy="585216"/>
          </a:xfrm>
          <a:prstGeom prst="ellipse">
            <a:avLst/>
          </a:prstGeom>
          <a:solidFill>
            <a:srgbClr val="22D3EE"/>
          </a:solidFill>
          <a:ln/>
        </p:spPr>
      </p:sp>
      <p:pic>
        <p:nvPicPr>
          <p:cNvPr id="35" name="Image 4" descr="/tmp/aizen_pptx/assets/icons/upload_FFFFFF.png">    </p:cNvPr>
          <p:cNvPicPr>
            <a:picLocks noChangeAspect="1"/>
          </p:cNvPicPr>
          <p:nvPr/>
        </p:nvPicPr>
        <p:blipFill>
          <a:blip r:embed="rId5"/>
          <a:stretch>
            <a:fillRect/>
          </a:stretch>
        </p:blipFill>
        <p:spPr>
          <a:xfrm>
            <a:off x="10387675" y="2746492"/>
            <a:ext cx="304312" cy="304312"/>
          </a:xfrm>
          <a:prstGeom prst="rect">
            <a:avLst/>
          </a:prstGeom>
        </p:spPr>
      </p:pic>
      <p:sp>
        <p:nvSpPr>
          <p:cNvPr id="36" name="Text 29"/>
          <p:cNvSpPr txBox="1"/>
          <p:nvPr/>
        </p:nvSpPr>
        <p:spPr>
          <a:xfrm>
            <a:off x="9694012" y="3337560"/>
            <a:ext cx="1691640" cy="548640"/>
          </a:xfrm>
          <a:prstGeom prst="rect">
            <a:avLst/>
          </a:prstGeom>
          <a:noFill/>
          <a:ln/>
        </p:spPr>
        <p:txBody>
          <a:bodyPr wrap="square" lIns="0" tIns="0" rIns="0" bIns="0" rtlCol="0" anchor="ctr"/>
          <a:lstStyle/>
          <a:p>
            <a:pPr algn="ctr" indent="0" marL="0">
              <a:lnSpc>
                <a:spcPts val="1500"/>
              </a:lnSpc>
              <a:buNone/>
            </a:pPr>
            <a:r>
              <a:rPr lang="en-US" sz="1250" b="1" dirty="0">
                <a:solidFill>
                  <a:srgbClr val="13131F"/>
                </a:solidFill>
                <a:latin typeface="Calibri" pitchFamily="34" charset="0"/>
                <a:ea typeface="Calibri" pitchFamily="34" charset="-122"/>
                <a:cs typeface="Calibri" pitchFamily="34" charset="-120"/>
              </a:rPr>
              <a:t>Streamed to chat</a:t>
            </a:r>
            <a:endParaRPr lang="en-US" sz="1250" dirty="0"/>
          </a:p>
        </p:txBody>
      </p:sp>
      <p:sp>
        <p:nvSpPr>
          <p:cNvPr id="37" name="Text 30"/>
          <p:cNvSpPr txBox="1"/>
          <p:nvPr/>
        </p:nvSpPr>
        <p:spPr>
          <a:xfrm>
            <a:off x="9694012" y="3913632"/>
            <a:ext cx="1691640" cy="731520"/>
          </a:xfrm>
          <a:prstGeom prst="rect">
            <a:avLst/>
          </a:prstGeom>
          <a:noFill/>
          <a:ln/>
        </p:spPr>
        <p:txBody>
          <a:bodyPr wrap="square" lIns="0" tIns="0" rIns="0" bIns="0" rtlCol="0" anchor="ctr"/>
          <a:lstStyle/>
          <a:p>
            <a:pPr algn="ctr" indent="0" marL="0">
              <a:lnSpc>
                <a:spcPts val="1300"/>
              </a:lnSpc>
              <a:buNone/>
            </a:pPr>
            <a:r>
              <a:rPr lang="en-US" sz="1000" dirty="0">
                <a:solidFill>
                  <a:srgbClr val="6B7280"/>
                </a:solidFill>
                <a:latin typeface="Calibri" pitchFamily="34" charset="0"/>
                <a:ea typeface="Calibri" pitchFamily="34" charset="-122"/>
                <a:cs typeface="Calibri" pitchFamily="34" charset="-120"/>
              </a:rPr>
              <a:t>Files land as a live, editable artifact.</a:t>
            </a:r>
            <a:endParaRPr lang="en-US" sz="1000" dirty="0"/>
          </a:p>
        </p:txBody>
      </p:sp>
      <p:sp>
        <p:nvSpPr>
          <p:cNvPr id="38" name="Text 31"/>
          <p:cNvSpPr txBox="1"/>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B9BBC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C"/>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OUTCOMES</a:t>
            </a:r>
            <a:endParaRPr lang="en-US" sz="12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What shipped</a:t>
            </a:r>
            <a:endParaRPr lang="en-US" sz="3000" dirty="0"/>
          </a:p>
        </p:txBody>
      </p:sp>
      <p:sp>
        <p:nvSpPr>
          <p:cNvPr id="4" name="Shape 2"/>
          <p:cNvSpPr/>
          <p:nvPr/>
        </p:nvSpPr>
        <p:spPr>
          <a:xfrm>
            <a:off x="655168" y="1828800"/>
            <a:ext cx="2514600" cy="1920240"/>
          </a:xfrm>
          <a:prstGeom prst="roundRect">
            <a:avLst>
              <a:gd name="adj" fmla="val 4286"/>
            </a:avLst>
          </a:prstGeom>
          <a:solidFill>
            <a:srgbClr val="161B2E"/>
          </a:solidFill>
          <a:ln/>
        </p:spPr>
      </p:sp>
      <p:sp>
        <p:nvSpPr>
          <p:cNvPr id="5" name="Text 3"/>
          <p:cNvSpPr txBox="1"/>
          <p:nvPr/>
        </p:nvSpPr>
        <p:spPr>
          <a:xfrm>
            <a:off x="655168" y="2084832"/>
            <a:ext cx="2514600" cy="822960"/>
          </a:xfrm>
          <a:prstGeom prst="rect">
            <a:avLst/>
          </a:prstGeom>
          <a:noFill/>
          <a:ln/>
        </p:spPr>
        <p:txBody>
          <a:bodyPr wrap="square" lIns="0" tIns="0" rIns="0" bIns="0" rtlCol="0" anchor="ctr"/>
          <a:lstStyle/>
          <a:p>
            <a:pPr algn="ctr" indent="0" marL="0">
              <a:buNone/>
            </a:pPr>
            <a:r>
              <a:rPr lang="en-US" sz="4000" b="1" dirty="0">
                <a:solidFill>
                  <a:srgbClr val="8B5CF6"/>
                </a:solidFill>
                <a:latin typeface="Calibri" pitchFamily="34" charset="0"/>
                <a:ea typeface="Calibri" pitchFamily="34" charset="-122"/>
                <a:cs typeface="Calibri" pitchFamily="34" charset="-120"/>
              </a:rPr>
              <a:t>10</a:t>
            </a:r>
            <a:endParaRPr lang="en-US" sz="4000" dirty="0"/>
          </a:p>
        </p:txBody>
      </p:sp>
      <p:sp>
        <p:nvSpPr>
          <p:cNvPr id="6" name="Text 4"/>
          <p:cNvSpPr txBox="1"/>
          <p:nvPr/>
        </p:nvSpPr>
        <p:spPr>
          <a:xfrm>
            <a:off x="792328" y="2926080"/>
            <a:ext cx="2240280" cy="548640"/>
          </a:xfrm>
          <a:prstGeom prst="rect">
            <a:avLst/>
          </a:prstGeom>
          <a:noFill/>
          <a:ln/>
        </p:spPr>
        <p:txBody>
          <a:bodyPr wrap="square" lIns="0" tIns="0" rIns="0" bIns="0" rtlCol="0" anchor="ctr"/>
          <a:lstStyle/>
          <a:p>
            <a:pPr algn="ctr" indent="0" marL="0">
              <a:lnSpc>
                <a:spcPts val="1500"/>
              </a:lnSpc>
              <a:buNone/>
            </a:pPr>
            <a:r>
              <a:rPr lang="en-US" sz="1200" dirty="0">
                <a:solidFill>
                  <a:srgbClr val="C7CAD9"/>
                </a:solidFill>
                <a:latin typeface="Calibri" pitchFamily="34" charset="0"/>
                <a:ea typeface="Calibri" pitchFamily="34" charset="-122"/>
                <a:cs typeface="Calibri" pitchFamily="34" charset="-120"/>
              </a:rPr>
              <a:t>Blueprint stacks supported</a:t>
            </a:r>
            <a:endParaRPr lang="en-US" sz="1200" dirty="0"/>
          </a:p>
        </p:txBody>
      </p:sp>
      <p:sp>
        <p:nvSpPr>
          <p:cNvPr id="7" name="Shape 5"/>
          <p:cNvSpPr/>
          <p:nvPr/>
        </p:nvSpPr>
        <p:spPr>
          <a:xfrm>
            <a:off x="3444088" y="1828800"/>
            <a:ext cx="2514600" cy="1920240"/>
          </a:xfrm>
          <a:prstGeom prst="roundRect">
            <a:avLst>
              <a:gd name="adj" fmla="val 4286"/>
            </a:avLst>
          </a:prstGeom>
          <a:solidFill>
            <a:srgbClr val="161B2E"/>
          </a:solidFill>
          <a:ln/>
        </p:spPr>
      </p:sp>
      <p:sp>
        <p:nvSpPr>
          <p:cNvPr id="8" name="Text 6"/>
          <p:cNvSpPr txBox="1"/>
          <p:nvPr/>
        </p:nvSpPr>
        <p:spPr>
          <a:xfrm>
            <a:off x="3444088" y="2084832"/>
            <a:ext cx="2514600" cy="822960"/>
          </a:xfrm>
          <a:prstGeom prst="rect">
            <a:avLst/>
          </a:prstGeom>
          <a:noFill/>
          <a:ln/>
        </p:spPr>
        <p:txBody>
          <a:bodyPr wrap="square" lIns="0" tIns="0" rIns="0" bIns="0" rtlCol="0" anchor="ctr"/>
          <a:lstStyle/>
          <a:p>
            <a:pPr algn="ctr" indent="0" marL="0">
              <a:buNone/>
            </a:pPr>
            <a:r>
              <a:rPr lang="en-US" sz="4000" b="1" dirty="0">
                <a:solidFill>
                  <a:srgbClr val="22D3EE"/>
                </a:solidFill>
                <a:latin typeface="Calibri" pitchFamily="34" charset="0"/>
                <a:ea typeface="Calibri" pitchFamily="34" charset="-122"/>
                <a:cs typeface="Calibri" pitchFamily="34" charset="-120"/>
              </a:rPr>
              <a:t>12</a:t>
            </a:r>
            <a:endParaRPr lang="en-US" sz="4000" dirty="0"/>
          </a:p>
        </p:txBody>
      </p:sp>
      <p:sp>
        <p:nvSpPr>
          <p:cNvPr id="9" name="Text 7"/>
          <p:cNvSpPr txBox="1"/>
          <p:nvPr/>
        </p:nvSpPr>
        <p:spPr>
          <a:xfrm>
            <a:off x="3581248" y="2926080"/>
            <a:ext cx="2240280" cy="548640"/>
          </a:xfrm>
          <a:prstGeom prst="rect">
            <a:avLst/>
          </a:prstGeom>
          <a:noFill/>
          <a:ln/>
        </p:spPr>
        <p:txBody>
          <a:bodyPr wrap="square" lIns="0" tIns="0" rIns="0" bIns="0" rtlCol="0" anchor="ctr"/>
          <a:lstStyle/>
          <a:p>
            <a:pPr algn="ctr" indent="0" marL="0">
              <a:lnSpc>
                <a:spcPts val="1500"/>
              </a:lnSpc>
              <a:buNone/>
            </a:pPr>
            <a:r>
              <a:rPr lang="en-US" sz="1200" dirty="0">
                <a:solidFill>
                  <a:srgbClr val="C7CAD9"/>
                </a:solidFill>
                <a:latin typeface="Calibri" pitchFamily="34" charset="0"/>
                <a:ea typeface="Calibri" pitchFamily="34" charset="-122"/>
                <a:cs typeface="Calibri" pitchFamily="34" charset="-120"/>
              </a:rPr>
              <a:t>Modules shipped</a:t>
            </a:r>
            <a:endParaRPr lang="en-US" sz="1200" dirty="0"/>
          </a:p>
        </p:txBody>
      </p:sp>
      <p:sp>
        <p:nvSpPr>
          <p:cNvPr id="10" name="Shape 8"/>
          <p:cNvSpPr/>
          <p:nvPr/>
        </p:nvSpPr>
        <p:spPr>
          <a:xfrm>
            <a:off x="6233008" y="1828800"/>
            <a:ext cx="2514600" cy="1920240"/>
          </a:xfrm>
          <a:prstGeom prst="roundRect">
            <a:avLst>
              <a:gd name="adj" fmla="val 4286"/>
            </a:avLst>
          </a:prstGeom>
          <a:solidFill>
            <a:srgbClr val="161B2E"/>
          </a:solidFill>
          <a:ln/>
        </p:spPr>
      </p:sp>
      <p:sp>
        <p:nvSpPr>
          <p:cNvPr id="11" name="Text 9"/>
          <p:cNvSpPr txBox="1"/>
          <p:nvPr/>
        </p:nvSpPr>
        <p:spPr>
          <a:xfrm>
            <a:off x="6233008" y="2084832"/>
            <a:ext cx="2514600" cy="822960"/>
          </a:xfrm>
          <a:prstGeom prst="rect">
            <a:avLst/>
          </a:prstGeom>
          <a:noFill/>
          <a:ln/>
        </p:spPr>
        <p:txBody>
          <a:bodyPr wrap="square" lIns="0" tIns="0" rIns="0" bIns="0" rtlCol="0" anchor="ctr"/>
          <a:lstStyle/>
          <a:p>
            <a:pPr algn="ctr" indent="0" marL="0">
              <a:buNone/>
            </a:pPr>
            <a:r>
              <a:rPr lang="en-US" sz="4000" b="1" dirty="0">
                <a:solidFill>
                  <a:srgbClr val="FBBF24"/>
                </a:solidFill>
                <a:latin typeface="Calibri" pitchFamily="34" charset="0"/>
                <a:ea typeface="Calibri" pitchFamily="34" charset="-122"/>
                <a:cs typeface="Calibri" pitchFamily="34" charset="-120"/>
              </a:rPr>
              <a:t>10s</a:t>
            </a:r>
            <a:endParaRPr lang="en-US" sz="4000" dirty="0"/>
          </a:p>
        </p:txBody>
      </p:sp>
      <p:sp>
        <p:nvSpPr>
          <p:cNvPr id="12" name="Text 10"/>
          <p:cNvSpPr txBox="1"/>
          <p:nvPr/>
        </p:nvSpPr>
        <p:spPr>
          <a:xfrm>
            <a:off x="6370168" y="2926080"/>
            <a:ext cx="2240280" cy="548640"/>
          </a:xfrm>
          <a:prstGeom prst="rect">
            <a:avLst/>
          </a:prstGeom>
          <a:noFill/>
          <a:ln/>
        </p:spPr>
        <p:txBody>
          <a:bodyPr wrap="square" lIns="0" tIns="0" rIns="0" bIns="0" rtlCol="0" anchor="ctr"/>
          <a:lstStyle/>
          <a:p>
            <a:pPr algn="ctr" indent="0" marL="0">
              <a:lnSpc>
                <a:spcPts val="1500"/>
              </a:lnSpc>
              <a:buNone/>
            </a:pPr>
            <a:r>
              <a:rPr lang="en-US" sz="1200" dirty="0">
                <a:solidFill>
                  <a:srgbClr val="C7CAD9"/>
                </a:solidFill>
                <a:latin typeface="Calibri" pitchFamily="34" charset="0"/>
                <a:ea typeface="Calibri" pitchFamily="34" charset="-122"/>
                <a:cs typeface="Calibri" pitchFamily="34" charset="-120"/>
              </a:rPr>
              <a:t>Sandboxed execution limit</a:t>
            </a:r>
            <a:endParaRPr lang="en-US" sz="1200" dirty="0"/>
          </a:p>
        </p:txBody>
      </p:sp>
      <p:sp>
        <p:nvSpPr>
          <p:cNvPr id="13" name="Shape 11"/>
          <p:cNvSpPr/>
          <p:nvPr/>
        </p:nvSpPr>
        <p:spPr>
          <a:xfrm>
            <a:off x="9021928" y="1828800"/>
            <a:ext cx="2514600" cy="1920240"/>
          </a:xfrm>
          <a:prstGeom prst="roundRect">
            <a:avLst>
              <a:gd name="adj" fmla="val 4286"/>
            </a:avLst>
          </a:prstGeom>
          <a:solidFill>
            <a:srgbClr val="161B2E"/>
          </a:solidFill>
          <a:ln/>
        </p:spPr>
      </p:sp>
      <p:sp>
        <p:nvSpPr>
          <p:cNvPr id="14" name="Text 12"/>
          <p:cNvSpPr txBox="1"/>
          <p:nvPr/>
        </p:nvSpPr>
        <p:spPr>
          <a:xfrm>
            <a:off x="9021928" y="2084832"/>
            <a:ext cx="2514600" cy="822960"/>
          </a:xfrm>
          <a:prstGeom prst="rect">
            <a:avLst/>
          </a:prstGeom>
          <a:noFill/>
          <a:ln/>
        </p:spPr>
        <p:txBody>
          <a:bodyPr wrap="square" lIns="0" tIns="0" rIns="0" bIns="0" rtlCol="0" anchor="ctr"/>
          <a:lstStyle/>
          <a:p>
            <a:pPr algn="ctr" indent="0" marL="0">
              <a:buNone/>
            </a:pPr>
            <a:r>
              <a:rPr lang="en-US" sz="4000" b="1" dirty="0">
                <a:solidFill>
                  <a:srgbClr val="8B5CF6"/>
                </a:solidFill>
                <a:latin typeface="Calibri" pitchFamily="34" charset="0"/>
                <a:ea typeface="Calibri" pitchFamily="34" charset="-122"/>
                <a:cs typeface="Calibri" pitchFamily="34" charset="-120"/>
              </a:rPr>
              <a:t>1-click</a:t>
            </a:r>
            <a:endParaRPr lang="en-US" sz="4000" dirty="0"/>
          </a:p>
        </p:txBody>
      </p:sp>
      <p:sp>
        <p:nvSpPr>
          <p:cNvPr id="15" name="Text 13"/>
          <p:cNvSpPr txBox="1"/>
          <p:nvPr/>
        </p:nvSpPr>
        <p:spPr>
          <a:xfrm>
            <a:off x="9159088" y="2926080"/>
            <a:ext cx="2240280" cy="548640"/>
          </a:xfrm>
          <a:prstGeom prst="rect">
            <a:avLst/>
          </a:prstGeom>
          <a:noFill/>
          <a:ln/>
        </p:spPr>
        <p:txBody>
          <a:bodyPr wrap="square" lIns="0" tIns="0" rIns="0" bIns="0" rtlCol="0" anchor="ctr"/>
          <a:lstStyle/>
          <a:p>
            <a:pPr algn="ctr" indent="0" marL="0">
              <a:lnSpc>
                <a:spcPts val="1500"/>
              </a:lnSpc>
              <a:buNone/>
            </a:pPr>
            <a:r>
              <a:rPr lang="en-US" sz="1200" dirty="0">
                <a:solidFill>
                  <a:srgbClr val="C7CAD9"/>
                </a:solidFill>
                <a:latin typeface="Calibri" pitchFamily="34" charset="0"/>
                <a:ea typeface="Calibri" pitchFamily="34" charset="-122"/>
                <a:cs typeface="Calibri" pitchFamily="34" charset="-120"/>
              </a:rPr>
              <a:t>GitHub deployment</a:t>
            </a:r>
            <a:endParaRPr lang="en-US" sz="1200" dirty="0"/>
          </a:p>
        </p:txBody>
      </p:sp>
      <p:sp>
        <p:nvSpPr>
          <p:cNvPr id="16" name="Shape 14"/>
          <p:cNvSpPr/>
          <p:nvPr/>
        </p:nvSpPr>
        <p:spPr>
          <a:xfrm>
            <a:off x="1554480" y="4251960"/>
            <a:ext cx="9082735" cy="1371600"/>
          </a:xfrm>
          <a:prstGeom prst="roundRect">
            <a:avLst>
              <a:gd name="adj" fmla="val 6000"/>
            </a:avLst>
          </a:prstGeom>
          <a:solidFill>
            <a:srgbClr val="1D2440"/>
          </a:solidFill>
          <a:ln/>
        </p:spPr>
      </p:sp>
      <p:sp>
        <p:nvSpPr>
          <p:cNvPr id="17" name="Text 15"/>
          <p:cNvSpPr txBox="1"/>
          <p:nvPr/>
        </p:nvSpPr>
        <p:spPr>
          <a:xfrm>
            <a:off x="1920240" y="4434840"/>
            <a:ext cx="8348472" cy="1005840"/>
          </a:xfrm>
          <a:prstGeom prst="rect">
            <a:avLst/>
          </a:prstGeom>
          <a:noFill/>
          <a:ln/>
        </p:spPr>
        <p:txBody>
          <a:bodyPr wrap="square" lIns="0" tIns="0" rIns="0" bIns="0" rtlCol="0" anchor="ctr"/>
          <a:lstStyle/>
          <a:p>
            <a:pPr algn="ctr" indent="0" marL="0">
              <a:lnSpc>
                <a:spcPts val="2100"/>
              </a:lnSpc>
              <a:buNone/>
            </a:pPr>
            <a:r>
              <a:rPr lang="en-US" sz="1500" i="1" dirty="0">
                <a:solidFill>
                  <a:srgbClr val="FFFFFF"/>
                </a:solidFill>
                <a:latin typeface="Calibri" pitchFamily="34" charset="0"/>
                <a:ea typeface="Calibri" pitchFamily="34" charset="-122"/>
                <a:cs typeface="Calibri" pitchFamily="34" charset="-120"/>
              </a:rPr>
              <a:t>"Success is directly testable: a build request either produces a running project, or a clear, logged error explaining why not."</a:t>
            </a:r>
            <a:endParaRPr lang="en-US" sz="1500" dirty="0"/>
          </a:p>
        </p:txBody>
      </p:sp>
      <p:sp>
        <p:nvSpPr>
          <p:cNvPr id="18" name="Text 16"/>
          <p:cNvSpPr txBox="1"/>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4B506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92608"/>
          </a:xfrm>
          <a:prstGeom prst="rect">
            <a:avLst/>
          </a:prstGeom>
          <a:noFill/>
          <a:ln/>
        </p:spPr>
        <p:txBody>
          <a:bodyPr wrap="square" lIns="0" tIns="0" rIns="0" bIns="0" rtlCol="0" anchor="ctr"/>
          <a:lstStyle/>
          <a:p>
            <a:pPr indent="0" marL="0">
              <a:buNone/>
            </a:pPr>
            <a:r>
              <a:rPr lang="en-US" sz="1200" b="1" spc="200" kern="0" dirty="0">
                <a:solidFill>
                  <a:srgbClr val="8B5CF6"/>
                </a:solidFill>
                <a:latin typeface="Calibri" pitchFamily="34" charset="0"/>
                <a:ea typeface="Calibri" pitchFamily="34" charset="-122"/>
                <a:cs typeface="Calibri" pitchFamily="34" charset="-120"/>
              </a:rPr>
              <a:t>WRAPPING UP</a:t>
            </a:r>
            <a:endParaRPr lang="en-US" sz="12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algn="l" indent="0" marL="0">
              <a:buNone/>
            </a:pPr>
            <a:r>
              <a:rPr lang="en-US" sz="3000" b="1" dirty="0">
                <a:solidFill>
                  <a:srgbClr val="13131F"/>
                </a:solidFill>
                <a:latin typeface="Calibri" pitchFamily="34" charset="0"/>
                <a:ea typeface="Calibri" pitchFamily="34" charset="-122"/>
                <a:cs typeface="Calibri" pitchFamily="34" charset="-120"/>
              </a:rPr>
              <a:t>Where Aizen stands, and what’s next</a:t>
            </a:r>
            <a:endParaRPr lang="en-US" sz="3000" dirty="0"/>
          </a:p>
        </p:txBody>
      </p:sp>
      <p:sp>
        <p:nvSpPr>
          <p:cNvPr id="4" name="Shape 2"/>
          <p:cNvSpPr/>
          <p:nvPr/>
        </p:nvSpPr>
        <p:spPr>
          <a:xfrm>
            <a:off x="640080" y="1600200"/>
            <a:ext cx="457200" cy="457200"/>
          </a:xfrm>
          <a:prstGeom prst="ellipse">
            <a:avLst/>
          </a:prstGeom>
          <a:solidFill>
            <a:srgbClr val="8B5CF6"/>
          </a:solidFill>
          <a:ln/>
        </p:spPr>
      </p:sp>
      <p:pic>
        <p:nvPicPr>
          <p:cNvPr id="5" name="Image 0" descr="/tmp/aizen_pptx/assets/icons/checksquare_FFFFFF.png">    </p:cNvPr>
          <p:cNvPicPr>
            <a:picLocks noChangeAspect="1"/>
          </p:cNvPicPr>
          <p:nvPr/>
        </p:nvPicPr>
        <p:blipFill>
          <a:blip r:embed="rId1"/>
          <a:stretch>
            <a:fillRect/>
          </a:stretch>
        </p:blipFill>
        <p:spPr>
          <a:xfrm>
            <a:off x="754380" y="1714500"/>
            <a:ext cx="228600" cy="228600"/>
          </a:xfrm>
          <a:prstGeom prst="rect">
            <a:avLst/>
          </a:prstGeom>
        </p:spPr>
      </p:pic>
      <p:sp>
        <p:nvSpPr>
          <p:cNvPr id="6" name="Text 3"/>
          <p:cNvSpPr txBox="1"/>
          <p:nvPr/>
        </p:nvSpPr>
        <p:spPr>
          <a:xfrm>
            <a:off x="1234440" y="1655064"/>
            <a:ext cx="3657600" cy="365760"/>
          </a:xfrm>
          <a:prstGeom prst="rect">
            <a:avLst/>
          </a:prstGeom>
          <a:noFill/>
          <a:ln/>
        </p:spPr>
        <p:txBody>
          <a:bodyPr wrap="square" lIns="0" tIns="0" rIns="0" bIns="0" rtlCol="0" anchor="ctr"/>
          <a:lstStyle/>
          <a:p>
            <a:pPr indent="0" marL="0">
              <a:buNone/>
            </a:pPr>
            <a:r>
              <a:rPr lang="en-US" sz="1700" b="1" dirty="0">
                <a:solidFill>
                  <a:srgbClr val="13131F"/>
                </a:solidFill>
                <a:latin typeface="Calibri" pitchFamily="34" charset="0"/>
                <a:ea typeface="Calibri" pitchFamily="34" charset="-122"/>
                <a:cs typeface="Calibri" pitchFamily="34" charset="-120"/>
              </a:rPr>
              <a:t>Conclusion</a:t>
            </a:r>
            <a:endParaRPr lang="en-US" sz="1700" dirty="0"/>
          </a:p>
        </p:txBody>
      </p:sp>
      <p:sp>
        <p:nvSpPr>
          <p:cNvPr id="7" name="Shape 4"/>
          <p:cNvSpPr/>
          <p:nvPr/>
        </p:nvSpPr>
        <p:spPr>
          <a:xfrm>
            <a:off x="658368" y="2276856"/>
            <a:ext cx="64008" cy="64008"/>
          </a:xfrm>
          <a:prstGeom prst="ellipse">
            <a:avLst/>
          </a:prstGeom>
          <a:solidFill>
            <a:srgbClr val="8B5CF6"/>
          </a:solidFill>
          <a:ln/>
        </p:spPr>
      </p:sp>
      <p:sp>
        <p:nvSpPr>
          <p:cNvPr id="8" name="Text 5"/>
          <p:cNvSpPr txBox="1"/>
          <p:nvPr/>
        </p:nvSpPr>
        <p:spPr>
          <a:xfrm>
            <a:off x="896112" y="2194560"/>
            <a:ext cx="5001768" cy="868680"/>
          </a:xfrm>
          <a:prstGeom prst="rect">
            <a:avLst/>
          </a:prstGeom>
          <a:noFill/>
          <a:ln/>
        </p:spPr>
        <p:txBody>
          <a:bodyPr wrap="square" lIns="0" tIns="0" rIns="0" bIns="0" rtlCol="0" anchor="ctr"/>
          <a:lstStyle/>
          <a:p>
            <a:pPr indent="0" marL="0">
              <a:lnSpc>
                <a:spcPts val="1500"/>
              </a:lnSpc>
              <a:buNone/>
            </a:pPr>
            <a:r>
              <a:rPr lang="en-US" sz="1200" dirty="0">
                <a:solidFill>
                  <a:srgbClr val="6B7280"/>
                </a:solidFill>
                <a:latin typeface="Calibri" pitchFamily="34" charset="0"/>
                <a:ea typeface="Calibri" pitchFamily="34" charset="-122"/>
                <a:cs typeface="Calibri" pitchFamily="34" charset="-120"/>
              </a:rPr>
              <a:t>All six objectives met: classification, multi-stack generation with fallback, an iterative agent loop, and an integrated browser workspace.</a:t>
            </a:r>
            <a:endParaRPr lang="en-US" sz="1200" dirty="0"/>
          </a:p>
        </p:txBody>
      </p:sp>
      <p:sp>
        <p:nvSpPr>
          <p:cNvPr id="9" name="Shape 6"/>
          <p:cNvSpPr/>
          <p:nvPr/>
        </p:nvSpPr>
        <p:spPr>
          <a:xfrm>
            <a:off x="658368" y="3236976"/>
            <a:ext cx="64008" cy="64008"/>
          </a:xfrm>
          <a:prstGeom prst="ellipse">
            <a:avLst/>
          </a:prstGeom>
          <a:solidFill>
            <a:srgbClr val="8B5CF6"/>
          </a:solidFill>
          <a:ln/>
        </p:spPr>
      </p:sp>
      <p:sp>
        <p:nvSpPr>
          <p:cNvPr id="10" name="Text 7"/>
          <p:cNvSpPr txBox="1"/>
          <p:nvPr/>
        </p:nvSpPr>
        <p:spPr>
          <a:xfrm>
            <a:off x="896112" y="3154680"/>
            <a:ext cx="5001768" cy="868680"/>
          </a:xfrm>
          <a:prstGeom prst="rect">
            <a:avLst/>
          </a:prstGeom>
          <a:noFill/>
          <a:ln/>
        </p:spPr>
        <p:txBody>
          <a:bodyPr wrap="square" lIns="0" tIns="0" rIns="0" bIns="0" rtlCol="0" anchor="ctr"/>
          <a:lstStyle/>
          <a:p>
            <a:pPr indent="0" marL="0">
              <a:lnSpc>
                <a:spcPts val="1500"/>
              </a:lnSpc>
              <a:buNone/>
            </a:pPr>
            <a:r>
              <a:rPr lang="en-US" sz="1200" dirty="0">
                <a:solidFill>
                  <a:srgbClr val="6B7280"/>
                </a:solidFill>
                <a:latin typeface="Calibri" pitchFamily="34" charset="0"/>
                <a:ea typeface="Calibri" pitchFamily="34" charset="-122"/>
                <a:cs typeface="Calibri" pitchFamily="34" charset="-120"/>
              </a:rPr>
              <a:t>A real silent-failure bug — a missed intent phrasing plus a swallowed model-call error — taught more about dependable agent design than the original design phase did.</a:t>
            </a:r>
            <a:endParaRPr lang="en-US" sz="1200" dirty="0"/>
          </a:p>
        </p:txBody>
      </p:sp>
      <p:sp>
        <p:nvSpPr>
          <p:cNvPr id="11" name="Shape 8"/>
          <p:cNvSpPr/>
          <p:nvPr/>
        </p:nvSpPr>
        <p:spPr>
          <a:xfrm>
            <a:off x="658368" y="4197096"/>
            <a:ext cx="64008" cy="64008"/>
          </a:xfrm>
          <a:prstGeom prst="ellipse">
            <a:avLst/>
          </a:prstGeom>
          <a:solidFill>
            <a:srgbClr val="8B5CF6"/>
          </a:solidFill>
          <a:ln/>
        </p:spPr>
      </p:sp>
      <p:sp>
        <p:nvSpPr>
          <p:cNvPr id="12" name="Text 9"/>
          <p:cNvSpPr txBox="1"/>
          <p:nvPr/>
        </p:nvSpPr>
        <p:spPr>
          <a:xfrm>
            <a:off x="896112" y="4114800"/>
            <a:ext cx="5001768" cy="868680"/>
          </a:xfrm>
          <a:prstGeom prst="rect">
            <a:avLst/>
          </a:prstGeom>
          <a:noFill/>
          <a:ln/>
        </p:spPr>
        <p:txBody>
          <a:bodyPr wrap="square" lIns="0" tIns="0" rIns="0" bIns="0" rtlCol="0" anchor="ctr"/>
          <a:lstStyle/>
          <a:p>
            <a:pPr indent="0" marL="0">
              <a:lnSpc>
                <a:spcPts val="1500"/>
              </a:lnSpc>
              <a:buNone/>
            </a:pPr>
            <a:r>
              <a:rPr lang="en-US" sz="1200" dirty="0">
                <a:solidFill>
                  <a:srgbClr val="6B7280"/>
                </a:solidFill>
                <a:latin typeface="Calibri" pitchFamily="34" charset="0"/>
                <a:ea typeface="Calibri" pitchFamily="34" charset="-122"/>
                <a:cs typeface="Calibri" pitchFamily="34" charset="-120"/>
              </a:rPr>
              <a:t>Answers the minor project’s open question: an agentic, tool-using approach holds up under real use when failure paths are treated as first-class.</a:t>
            </a:r>
            <a:endParaRPr lang="en-US" sz="1200" dirty="0"/>
          </a:p>
        </p:txBody>
      </p:sp>
      <p:sp>
        <p:nvSpPr>
          <p:cNvPr id="13" name="Shape 10"/>
          <p:cNvSpPr/>
          <p:nvPr/>
        </p:nvSpPr>
        <p:spPr>
          <a:xfrm>
            <a:off x="6217920" y="1600200"/>
            <a:ext cx="457200" cy="457200"/>
          </a:xfrm>
          <a:prstGeom prst="ellipse">
            <a:avLst/>
          </a:prstGeom>
          <a:solidFill>
            <a:srgbClr val="FBBF24"/>
          </a:solidFill>
          <a:ln/>
        </p:spPr>
      </p:sp>
      <p:pic>
        <p:nvPicPr>
          <p:cNvPr id="14" name="Image 1" descr="/tmp/aizen_pptx/assets/icons/trending_13131F.png">    </p:cNvPr>
          <p:cNvPicPr>
            <a:picLocks noChangeAspect="1"/>
          </p:cNvPicPr>
          <p:nvPr/>
        </p:nvPicPr>
        <p:blipFill>
          <a:blip r:embed="rId2"/>
          <a:stretch>
            <a:fillRect/>
          </a:stretch>
        </p:blipFill>
        <p:spPr>
          <a:xfrm>
            <a:off x="6332220" y="1714500"/>
            <a:ext cx="228600" cy="228600"/>
          </a:xfrm>
          <a:prstGeom prst="rect">
            <a:avLst/>
          </a:prstGeom>
        </p:spPr>
      </p:pic>
      <p:sp>
        <p:nvSpPr>
          <p:cNvPr id="15" name="Text 11"/>
          <p:cNvSpPr txBox="1"/>
          <p:nvPr/>
        </p:nvSpPr>
        <p:spPr>
          <a:xfrm>
            <a:off x="6812280" y="1655064"/>
            <a:ext cx="3657600" cy="365760"/>
          </a:xfrm>
          <a:prstGeom prst="rect">
            <a:avLst/>
          </a:prstGeom>
          <a:noFill/>
          <a:ln/>
        </p:spPr>
        <p:txBody>
          <a:bodyPr wrap="square" lIns="0" tIns="0" rIns="0" bIns="0" rtlCol="0" anchor="ctr"/>
          <a:lstStyle/>
          <a:p>
            <a:pPr indent="0" marL="0">
              <a:buNone/>
            </a:pPr>
            <a:r>
              <a:rPr lang="en-US" sz="1700" b="1" dirty="0">
                <a:solidFill>
                  <a:srgbClr val="13131F"/>
                </a:solidFill>
                <a:latin typeface="Calibri" pitchFamily="34" charset="0"/>
                <a:ea typeface="Calibri" pitchFamily="34" charset="-122"/>
                <a:cs typeface="Calibri" pitchFamily="34" charset="-120"/>
              </a:rPr>
              <a:t>Future Scope</a:t>
            </a:r>
            <a:endParaRPr lang="en-US" sz="1700" dirty="0"/>
          </a:p>
        </p:txBody>
      </p:sp>
      <p:sp>
        <p:nvSpPr>
          <p:cNvPr id="16" name="Shape 12"/>
          <p:cNvSpPr/>
          <p:nvPr/>
        </p:nvSpPr>
        <p:spPr>
          <a:xfrm>
            <a:off x="6236208" y="2276856"/>
            <a:ext cx="64008" cy="64008"/>
          </a:xfrm>
          <a:prstGeom prst="ellipse">
            <a:avLst/>
          </a:prstGeom>
          <a:solidFill>
            <a:srgbClr val="FBBF24"/>
          </a:solidFill>
          <a:ln/>
        </p:spPr>
      </p:sp>
      <p:sp>
        <p:nvSpPr>
          <p:cNvPr id="17" name="Text 13"/>
          <p:cNvSpPr txBox="1"/>
          <p:nvPr/>
        </p:nvSpPr>
        <p:spPr>
          <a:xfrm>
            <a:off x="6473952" y="2194560"/>
            <a:ext cx="5001768" cy="685800"/>
          </a:xfrm>
          <a:prstGeom prst="rect">
            <a:avLst/>
          </a:prstGeom>
          <a:noFill/>
          <a:ln/>
        </p:spPr>
        <p:txBody>
          <a:bodyPr wrap="square" lIns="0" tIns="0" rIns="0" bIns="0" rtlCol="0" anchor="ctr"/>
          <a:lstStyle/>
          <a:p>
            <a:pPr indent="0" marL="0">
              <a:lnSpc>
                <a:spcPts val="1500"/>
              </a:lnSpc>
              <a:buNone/>
            </a:pPr>
            <a:r>
              <a:rPr lang="en-US" sz="1200" b="1" dirty="0">
                <a:solidFill>
                  <a:srgbClr val="13131F"/>
                </a:solidFill>
                <a:latin typeface="Calibri" pitchFamily="34" charset="0"/>
                <a:ea typeface="Calibri" pitchFamily="34" charset="-122"/>
                <a:cs typeface="Calibri" pitchFamily="34" charset="-120"/>
              </a:rPr>
              <a:t>Smarter fallback &amp; self-healing  </a:t>
            </a:r>
            <a:pPr indent="0" marL="0">
              <a:lnSpc>
                <a:spcPts val="1500"/>
              </a:lnSpc>
              <a:buNone/>
            </a:pPr>
            <a:r>
              <a:rPr lang="en-US" sz="1200" dirty="0">
                <a:solidFill>
                  <a:srgbClr val="6B7280"/>
                </a:solidFill>
                <a:latin typeface="Calibri" pitchFamily="34" charset="0"/>
                <a:ea typeface="Calibri" pitchFamily="34" charset="-122"/>
                <a:cs typeface="Calibri" pitchFamily="34" charset="-120"/>
              </a:rPr>
              <a:t>Retry with an alternate model or narrower prompt on failure.</a:t>
            </a:r>
            <a:endParaRPr lang="en-US" sz="1200" dirty="0"/>
          </a:p>
        </p:txBody>
      </p:sp>
      <p:sp>
        <p:nvSpPr>
          <p:cNvPr id="18" name="Shape 14"/>
          <p:cNvSpPr/>
          <p:nvPr/>
        </p:nvSpPr>
        <p:spPr>
          <a:xfrm>
            <a:off x="6236208" y="3054096"/>
            <a:ext cx="64008" cy="64008"/>
          </a:xfrm>
          <a:prstGeom prst="ellipse">
            <a:avLst/>
          </a:prstGeom>
          <a:solidFill>
            <a:srgbClr val="FBBF24"/>
          </a:solidFill>
          <a:ln/>
        </p:spPr>
      </p:sp>
      <p:sp>
        <p:nvSpPr>
          <p:cNvPr id="19" name="Text 15"/>
          <p:cNvSpPr txBox="1"/>
          <p:nvPr/>
        </p:nvSpPr>
        <p:spPr>
          <a:xfrm>
            <a:off x="6473952" y="2971800"/>
            <a:ext cx="5001768" cy="685800"/>
          </a:xfrm>
          <a:prstGeom prst="rect">
            <a:avLst/>
          </a:prstGeom>
          <a:noFill/>
          <a:ln/>
        </p:spPr>
        <p:txBody>
          <a:bodyPr wrap="square" lIns="0" tIns="0" rIns="0" bIns="0" rtlCol="0" anchor="ctr"/>
          <a:lstStyle/>
          <a:p>
            <a:pPr indent="0" marL="0">
              <a:lnSpc>
                <a:spcPts val="1500"/>
              </a:lnSpc>
              <a:buNone/>
            </a:pPr>
            <a:r>
              <a:rPr lang="en-US" sz="1200" b="1" dirty="0">
                <a:solidFill>
                  <a:srgbClr val="13131F"/>
                </a:solidFill>
                <a:latin typeface="Calibri" pitchFamily="34" charset="0"/>
                <a:ea typeface="Calibri" pitchFamily="34" charset="-122"/>
                <a:cs typeface="Calibri" pitchFamily="34" charset="-120"/>
              </a:rPr>
              <a:t>Multi-agent collaboration  </a:t>
            </a:r>
            <a:pPr indent="0" marL="0">
              <a:lnSpc>
                <a:spcPts val="1500"/>
              </a:lnSpc>
              <a:buNone/>
            </a:pPr>
            <a:r>
              <a:rPr lang="en-US" sz="1200" dirty="0">
                <a:solidFill>
                  <a:srgbClr val="6B7280"/>
                </a:solidFill>
                <a:latin typeface="Calibri" pitchFamily="34" charset="0"/>
                <a:ea typeface="Calibri" pitchFamily="34" charset="-122"/>
                <a:cs typeface="Calibri" pitchFamily="34" charset="-120"/>
              </a:rPr>
              <a:t>A writer agent and an adversarial checker agent, paired.</a:t>
            </a:r>
            <a:endParaRPr lang="en-US" sz="1200" dirty="0"/>
          </a:p>
        </p:txBody>
      </p:sp>
      <p:sp>
        <p:nvSpPr>
          <p:cNvPr id="20" name="Shape 16"/>
          <p:cNvSpPr/>
          <p:nvPr/>
        </p:nvSpPr>
        <p:spPr>
          <a:xfrm>
            <a:off x="6236208" y="3831336"/>
            <a:ext cx="64008" cy="64008"/>
          </a:xfrm>
          <a:prstGeom prst="ellipse">
            <a:avLst/>
          </a:prstGeom>
          <a:solidFill>
            <a:srgbClr val="FBBF24"/>
          </a:solidFill>
          <a:ln/>
        </p:spPr>
      </p:sp>
      <p:sp>
        <p:nvSpPr>
          <p:cNvPr id="21" name="Text 17"/>
          <p:cNvSpPr txBox="1"/>
          <p:nvPr/>
        </p:nvSpPr>
        <p:spPr>
          <a:xfrm>
            <a:off x="6473952" y="3749040"/>
            <a:ext cx="5001768" cy="685800"/>
          </a:xfrm>
          <a:prstGeom prst="rect">
            <a:avLst/>
          </a:prstGeom>
          <a:noFill/>
          <a:ln/>
        </p:spPr>
        <p:txBody>
          <a:bodyPr wrap="square" lIns="0" tIns="0" rIns="0" bIns="0" rtlCol="0" anchor="ctr"/>
          <a:lstStyle/>
          <a:p>
            <a:pPr indent="0" marL="0">
              <a:lnSpc>
                <a:spcPts val="1500"/>
              </a:lnSpc>
              <a:buNone/>
            </a:pPr>
            <a:r>
              <a:rPr lang="en-US" sz="1200" b="1" dirty="0">
                <a:solidFill>
                  <a:srgbClr val="13131F"/>
                </a:solidFill>
                <a:latin typeface="Calibri" pitchFamily="34" charset="0"/>
                <a:ea typeface="Calibri" pitchFamily="34" charset="-122"/>
                <a:cs typeface="Calibri" pitchFamily="34" charset="-120"/>
              </a:rPr>
              <a:t>Stronger execution sandboxing  </a:t>
            </a:r>
            <a:pPr indent="0" marL="0">
              <a:lnSpc>
                <a:spcPts val="1500"/>
              </a:lnSpc>
              <a:buNone/>
            </a:pPr>
            <a:r>
              <a:rPr lang="en-US" sz="1200" dirty="0">
                <a:solidFill>
                  <a:srgbClr val="6B7280"/>
                </a:solidFill>
                <a:latin typeface="Calibri" pitchFamily="34" charset="0"/>
                <a:ea typeface="Calibri" pitchFamily="34" charset="-122"/>
                <a:cs typeface="Calibri" pitchFamily="34" charset="-120"/>
              </a:rPr>
              <a:t>Run code in an isolated container, not the host process.</a:t>
            </a:r>
            <a:endParaRPr lang="en-US" sz="1200" dirty="0"/>
          </a:p>
        </p:txBody>
      </p:sp>
      <p:sp>
        <p:nvSpPr>
          <p:cNvPr id="22" name="Shape 18"/>
          <p:cNvSpPr/>
          <p:nvPr/>
        </p:nvSpPr>
        <p:spPr>
          <a:xfrm>
            <a:off x="6236208" y="4608576"/>
            <a:ext cx="64008" cy="64008"/>
          </a:xfrm>
          <a:prstGeom prst="ellipse">
            <a:avLst/>
          </a:prstGeom>
          <a:solidFill>
            <a:srgbClr val="FBBF24"/>
          </a:solidFill>
          <a:ln/>
        </p:spPr>
      </p:sp>
      <p:sp>
        <p:nvSpPr>
          <p:cNvPr id="23" name="Text 19"/>
          <p:cNvSpPr txBox="1"/>
          <p:nvPr/>
        </p:nvSpPr>
        <p:spPr>
          <a:xfrm>
            <a:off x="6473952" y="4526280"/>
            <a:ext cx="5001768" cy="685800"/>
          </a:xfrm>
          <a:prstGeom prst="rect">
            <a:avLst/>
          </a:prstGeom>
          <a:noFill/>
          <a:ln/>
        </p:spPr>
        <p:txBody>
          <a:bodyPr wrap="square" lIns="0" tIns="0" rIns="0" bIns="0" rtlCol="0" anchor="ctr"/>
          <a:lstStyle/>
          <a:p>
            <a:pPr indent="0" marL="0">
              <a:lnSpc>
                <a:spcPts val="1500"/>
              </a:lnSpc>
              <a:buNone/>
            </a:pPr>
            <a:r>
              <a:rPr lang="en-US" sz="1200" b="1" dirty="0">
                <a:solidFill>
                  <a:srgbClr val="13131F"/>
                </a:solidFill>
                <a:latin typeface="Calibri" pitchFamily="34" charset="0"/>
                <a:ea typeface="Calibri" pitchFamily="34" charset="-122"/>
                <a:cs typeface="Calibri" pitchFamily="34" charset="-120"/>
              </a:rPr>
              <a:t>Team sharing &amp; mobile client  </a:t>
            </a:r>
            <a:pPr indent="0" marL="0">
              <a:lnSpc>
                <a:spcPts val="1500"/>
              </a:lnSpc>
              <a:buNone/>
            </a:pPr>
            <a:r>
              <a:rPr lang="en-US" sz="1200" dirty="0">
                <a:solidFill>
                  <a:srgbClr val="6B7280"/>
                </a:solidFill>
                <a:latin typeface="Calibri" pitchFamily="34" charset="0"/>
                <a:ea typeface="Calibri" pitchFamily="34" charset="-122"/>
                <a:cs typeface="Calibri" pitchFamily="34" charset="-120"/>
              </a:rPr>
              <a:t>Real-time collaboration and a responsive mobile UI.</a:t>
            </a:r>
            <a:endParaRPr lang="en-US" sz="1200" dirty="0"/>
          </a:p>
        </p:txBody>
      </p:sp>
      <p:sp>
        <p:nvSpPr>
          <p:cNvPr id="24" name="Text 20"/>
          <p:cNvSpPr txBox="1"/>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B9BBC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E1C"/>
        </a:solidFill>
      </p:bgPr>
    </p:bg>
    <p:spTree>
      <p:nvGrpSpPr>
        <p:cNvPr id="1" name=""/>
        <p:cNvGrpSpPr/>
        <p:nvPr/>
      </p:nvGrpSpPr>
      <p:grpSpPr>
        <a:xfrm>
          <a:off x="0" y="0"/>
          <a:ext cx="0" cy="0"/>
          <a:chOff x="0" y="0"/>
          <a:chExt cx="0" cy="0"/>
        </a:xfrm>
      </p:grpSpPr>
      <p:sp>
        <p:nvSpPr>
          <p:cNvPr id="2" name="Shape 0"/>
          <p:cNvSpPr/>
          <p:nvPr/>
        </p:nvSpPr>
        <p:spPr>
          <a:xfrm>
            <a:off x="-1463040" y="3200400"/>
            <a:ext cx="5029200" cy="5029200"/>
          </a:xfrm>
          <a:prstGeom prst="ellipse">
            <a:avLst/>
          </a:prstGeom>
          <a:solidFill>
            <a:srgbClr val="8B5CF6">
              <a:alpha val="12000"/>
            </a:srgbClr>
          </a:solidFill>
          <a:ln/>
        </p:spPr>
      </p:sp>
      <p:sp>
        <p:nvSpPr>
          <p:cNvPr id="3" name="Shape 1"/>
          <p:cNvSpPr/>
          <p:nvPr/>
        </p:nvSpPr>
        <p:spPr>
          <a:xfrm>
            <a:off x="9509760" y="-2011680"/>
            <a:ext cx="5029200" cy="5029200"/>
          </a:xfrm>
          <a:prstGeom prst="ellipse">
            <a:avLst/>
          </a:prstGeom>
          <a:solidFill>
            <a:srgbClr val="22D3EE">
              <a:alpha val="10000"/>
            </a:srgbClr>
          </a:solidFill>
          <a:ln/>
        </p:spPr>
      </p:sp>
      <p:sp>
        <p:nvSpPr>
          <p:cNvPr id="4" name="Shape 2"/>
          <p:cNvSpPr/>
          <p:nvPr/>
        </p:nvSpPr>
        <p:spPr>
          <a:xfrm>
            <a:off x="5410505" y="868680"/>
            <a:ext cx="1371600" cy="1371600"/>
          </a:xfrm>
          <a:prstGeom prst="roundRect">
            <a:avLst>
              <a:gd name="adj" fmla="val 21333"/>
            </a:avLst>
          </a:prstGeom>
          <a:solidFill>
            <a:srgbClr val="8B5CF6"/>
          </a:solidFill>
          <a:ln/>
          <a:effectLst>
            <a:outerShdw sx="100000" sy="100000" kx="0" ky="0" algn="bl" rotWithShape="0" blurRad="177800" dist="50800" dir="5400000">
              <a:srgbClr val="8B5CF6">
                <a:alpha val="35000"/>
              </a:srgbClr>
            </a:outerShdw>
          </a:effectLst>
        </p:spPr>
      </p:sp>
      <p:pic>
        <p:nvPicPr>
          <p:cNvPr id="5" name="Image 0" descr="/tmp/aizen_pptx/assets/icons/zap_FFFFFF.png">    </p:cNvPr>
          <p:cNvPicPr>
            <a:picLocks noChangeAspect="1"/>
          </p:cNvPicPr>
          <p:nvPr/>
        </p:nvPicPr>
        <p:blipFill>
          <a:blip r:embed="rId1"/>
          <a:stretch>
            <a:fillRect/>
          </a:stretch>
        </p:blipFill>
        <p:spPr>
          <a:xfrm>
            <a:off x="5776265" y="1234440"/>
            <a:ext cx="640080" cy="640080"/>
          </a:xfrm>
          <a:prstGeom prst="rect">
            <a:avLst/>
          </a:prstGeom>
        </p:spPr>
      </p:pic>
      <p:sp>
        <p:nvSpPr>
          <p:cNvPr id="6" name="Text 3"/>
          <p:cNvSpPr txBox="1"/>
          <p:nvPr/>
        </p:nvSpPr>
        <p:spPr>
          <a:xfrm>
            <a:off x="0" y="2514600"/>
            <a:ext cx="12191695" cy="822960"/>
          </a:xfrm>
          <a:prstGeom prst="rect">
            <a:avLst/>
          </a:prstGeom>
          <a:noFill/>
          <a:ln/>
        </p:spPr>
        <p:txBody>
          <a:bodyPr wrap="square" lIns="0" tIns="0" rIns="0" bIns="0" rtlCol="0" anchor="ctr"/>
          <a:lstStyle/>
          <a:p>
            <a:pPr algn="ctr" indent="0" marL="0">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7" name="Text 4"/>
          <p:cNvSpPr txBox="1"/>
          <p:nvPr/>
        </p:nvSpPr>
        <p:spPr>
          <a:xfrm>
            <a:off x="0" y="3310128"/>
            <a:ext cx="12191695" cy="411480"/>
          </a:xfrm>
          <a:prstGeom prst="rect">
            <a:avLst/>
          </a:prstGeom>
          <a:noFill/>
          <a:ln/>
        </p:spPr>
        <p:txBody>
          <a:bodyPr wrap="square" lIns="0" tIns="0" rIns="0" bIns="0" rtlCol="0" anchor="ctr"/>
          <a:lstStyle/>
          <a:p>
            <a:pPr algn="ctr" indent="0" marL="0">
              <a:buNone/>
            </a:pPr>
            <a:r>
              <a:rPr lang="en-US" sz="1800" dirty="0">
                <a:solidFill>
                  <a:srgbClr val="22D3EE"/>
                </a:solidFill>
                <a:latin typeface="Calibri" pitchFamily="34" charset="0"/>
                <a:ea typeface="Calibri" pitchFamily="34" charset="-122"/>
                <a:cs typeface="Calibri" pitchFamily="34" charset="-120"/>
              </a:rPr>
              <a:t>Questions &amp; Discussion</a:t>
            </a:r>
            <a:endParaRPr lang="en-US" sz="1800" dirty="0"/>
          </a:p>
        </p:txBody>
      </p:sp>
      <p:sp>
        <p:nvSpPr>
          <p:cNvPr id="8" name="Text 5"/>
          <p:cNvSpPr txBox="1"/>
          <p:nvPr/>
        </p:nvSpPr>
        <p:spPr>
          <a:xfrm>
            <a:off x="0" y="5212080"/>
            <a:ext cx="12191695" cy="29260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Shubham Paithane [2303051051245]   •   Adarsh Singh Rajput [2303051051092]</a:t>
            </a:r>
            <a:endParaRPr lang="en-US" sz="1300" dirty="0"/>
          </a:p>
        </p:txBody>
      </p:sp>
      <p:sp>
        <p:nvSpPr>
          <p:cNvPr id="9" name="Text 6"/>
          <p:cNvSpPr txBox="1"/>
          <p:nvPr/>
        </p:nvSpPr>
        <p:spPr>
          <a:xfrm>
            <a:off x="0" y="5522976"/>
            <a:ext cx="12191695" cy="274320"/>
          </a:xfrm>
          <a:prstGeom prst="rect">
            <a:avLst/>
          </a:prstGeom>
          <a:noFill/>
          <a:ln/>
        </p:spPr>
        <p:txBody>
          <a:bodyPr wrap="square" lIns="0" tIns="0" rIns="0" bIns="0" rtlCol="0" anchor="ctr"/>
          <a:lstStyle/>
          <a:p>
            <a:pPr algn="ctr" indent="0" marL="0">
              <a:buNone/>
            </a:pPr>
            <a:r>
              <a:rPr lang="en-US" sz="1200" dirty="0">
                <a:solidFill>
                  <a:srgbClr val="9CA3AF"/>
                </a:solidFill>
                <a:latin typeface="Calibri" pitchFamily="34" charset="0"/>
                <a:ea typeface="Calibri" pitchFamily="34" charset="-122"/>
                <a:cs typeface="Calibri" pitchFamily="34" charset="-120"/>
              </a:rPr>
              <a:t>Guided by Mr. Meet Kumar Patel, Assistant Professor, CSE</a:t>
            </a:r>
            <a:endParaRPr lang="en-US" sz="1200" dirty="0"/>
          </a:p>
        </p:txBody>
      </p:sp>
      <p:sp>
        <p:nvSpPr>
          <p:cNvPr id="10" name="Text 7"/>
          <p:cNvSpPr txBox="1"/>
          <p:nvPr/>
        </p:nvSpPr>
        <p:spPr>
          <a:xfrm>
            <a:off x="0" y="5833872"/>
            <a:ext cx="12191695" cy="27432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Department of Computer Science &amp; Engineering, Parul Institute of Technology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2026-09-06T16:35:17Z</dcterms:created>
  <dcterms:modified xsi:type="dcterms:W3CDTF">2026-09-06T16:35:17Z</dcterms:modified>
</cp:coreProperties>
</file>